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 price</c:v>
                </c:pt>
              </c:strCache>
            </c:strRef>
          </c:tx>
          <c:spPr>
            <a:solidFill>
              <a:srgbClr val="0F7B4F"/>
            </a:solidFill>
            <a:ln w="38100" cap="flat">
              <a:solidFill>
                <a:srgbClr val="0F7B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B4F"/>
              </a:solidFill>
              <a:ln w="9525" cap="flat">
                <a:solidFill>
                  <a:srgbClr val="0F7B4F"/>
                </a:solidFill>
                <a:prstDash val="solid"/>
                <a:round/>
              </a:ln>
              <a:effectLst/>
            </c:spPr>
          </c:marker>
          <c:cat>
            <c:multiLvlStrRef>
              <c:f>Sheet1!$A$2:$A$61</c:f>
              <c:multiLvlStrCache>
                <c:ptCount val="60"/>
                <c:lvl>
                  <c:pt idx="0">
                    <c:v>60</c:v>
                  </c:pt>
                  <c:pt idx="1">
                    <c:v>59</c:v>
                  </c:pt>
                  <c:pt idx="2">
                    <c:v>58</c:v>
                  </c:pt>
                  <c:pt idx="3">
                    <c:v>57</c:v>
                  </c:pt>
                  <c:pt idx="4">
                    <c:v>56</c:v>
                  </c:pt>
                  <c:pt idx="5">
                    <c:v>55</c:v>
                  </c:pt>
                  <c:pt idx="6">
                    <c:v>54</c:v>
                  </c:pt>
                  <c:pt idx="7">
                    <c:v>53</c:v>
                  </c:pt>
                  <c:pt idx="8">
                    <c:v>52</c:v>
                  </c:pt>
                  <c:pt idx="9">
                    <c:v>51</c:v>
                  </c:pt>
                  <c:pt idx="10">
                    <c:v>50</c:v>
                  </c:pt>
                  <c:pt idx="11">
                    <c:v>49</c:v>
                  </c:pt>
                  <c:pt idx="12">
                    <c:v>48</c:v>
                  </c:pt>
                  <c:pt idx="13">
                    <c:v>47</c:v>
                  </c:pt>
                  <c:pt idx="14">
                    <c:v>46</c:v>
                  </c:pt>
                  <c:pt idx="15">
                    <c:v>45</c:v>
                  </c:pt>
                  <c:pt idx="16">
                    <c:v>44</c:v>
                  </c:pt>
                  <c:pt idx="17">
                    <c:v>43</c:v>
                  </c:pt>
                  <c:pt idx="18">
                    <c:v>42</c:v>
                  </c:pt>
                  <c:pt idx="19">
                    <c:v>41</c:v>
                  </c:pt>
                  <c:pt idx="20">
                    <c:v>40</c:v>
                  </c:pt>
                  <c:pt idx="21">
                    <c:v>39</c:v>
                  </c:pt>
                  <c:pt idx="22">
                    <c:v>38</c:v>
                  </c:pt>
                  <c:pt idx="23">
                    <c:v>37</c:v>
                  </c:pt>
                  <c:pt idx="24">
                    <c:v>36</c:v>
                  </c:pt>
                  <c:pt idx="25">
                    <c:v>35</c:v>
                  </c:pt>
                  <c:pt idx="26">
                    <c:v>34</c:v>
                  </c:pt>
                  <c:pt idx="27">
                    <c:v>33</c:v>
                  </c:pt>
                  <c:pt idx="28">
                    <c:v>32</c:v>
                  </c:pt>
                  <c:pt idx="29">
                    <c:v>31</c:v>
                  </c:pt>
                  <c:pt idx="30">
                    <c:v>30</c:v>
                  </c:pt>
                  <c:pt idx="31">
                    <c:v>29</c:v>
                  </c:pt>
                  <c:pt idx="32">
                    <c:v>28</c:v>
                  </c:pt>
                  <c:pt idx="33">
                    <c:v>27</c:v>
                  </c:pt>
                  <c:pt idx="34">
                    <c:v>26</c:v>
                  </c:pt>
                  <c:pt idx="35">
                    <c:v>25</c:v>
                  </c:pt>
                  <c:pt idx="36">
                    <c:v>24</c:v>
                  </c:pt>
                  <c:pt idx="37">
                    <c:v>23</c:v>
                  </c:pt>
                  <c:pt idx="38">
                    <c:v>22</c:v>
                  </c:pt>
                  <c:pt idx="39">
                    <c:v>21</c:v>
                  </c:pt>
                  <c:pt idx="40">
                    <c:v>20</c:v>
                  </c:pt>
                  <c:pt idx="41">
                    <c:v>19</c:v>
                  </c:pt>
                  <c:pt idx="42">
                    <c:v>18</c:v>
                  </c:pt>
                  <c:pt idx="43">
                    <c:v>17</c:v>
                  </c:pt>
                  <c:pt idx="44">
                    <c:v>16</c:v>
                  </c:pt>
                  <c:pt idx="45">
                    <c:v>15</c:v>
                  </c:pt>
                  <c:pt idx="46">
                    <c:v>14</c:v>
                  </c:pt>
                  <c:pt idx="47">
                    <c:v>13</c:v>
                  </c:pt>
                  <c:pt idx="48">
                    <c:v>12</c:v>
                  </c:pt>
                  <c:pt idx="49">
                    <c:v>11</c:v>
                  </c:pt>
                  <c:pt idx="50">
                    <c:v>10</c:v>
                  </c:pt>
                  <c:pt idx="51">
                    <c:v>9</c:v>
                  </c:pt>
                  <c:pt idx="52">
                    <c:v>8</c:v>
                  </c:pt>
                  <c:pt idx="53">
                    <c:v>7</c:v>
                  </c:pt>
                  <c:pt idx="54">
                    <c:v>6</c:v>
                  </c:pt>
                  <c:pt idx="55">
                    <c:v>5</c:v>
                  </c:pt>
                  <c:pt idx="56">
                    <c:v>4</c:v>
                  </c:pt>
                  <c:pt idx="57">
                    <c:v>3</c:v>
                  </c:pt>
                  <c:pt idx="58">
                    <c:v>2</c:v>
                  </c:pt>
                  <c:pt idx="59">
                    <c:v>1</c:v>
                  </c:pt>
                </c:lvl>
              </c:multiLvlStrCache>
            </c:multiLvlStrRef>
          </c:cat>
          <c:val>
            <c:numRef>
              <c:f>Sheet1!$B$2:$B$61</c:f>
              <c:numCache>
                <c:formatCode>General</c:formatCode>
                <c:ptCount val="60"/>
                <c:pt idx="0">
                  <c:v>8699</c:v>
                </c:pt>
                <c:pt idx="1">
                  <c:v>8699</c:v>
                </c:pt>
                <c:pt idx="2">
                  <c:v>8499</c:v>
                </c:pt>
                <c:pt idx="3">
                  <c:v>8599</c:v>
                </c:pt>
                <c:pt idx="4">
                  <c:v>8299</c:v>
                </c:pt>
                <c:pt idx="5">
                  <c:v>8599</c:v>
                </c:pt>
                <c:pt idx="6">
                  <c:v>8499</c:v>
                </c:pt>
                <c:pt idx="7">
                  <c:v>8699</c:v>
                </c:pt>
                <c:pt idx="8">
                  <c:v>8299</c:v>
                </c:pt>
                <c:pt idx="9">
                  <c:v>8199</c:v>
                </c:pt>
                <c:pt idx="10">
                  <c:v>8399</c:v>
                </c:pt>
                <c:pt idx="11">
                  <c:v>8699</c:v>
                </c:pt>
                <c:pt idx="12">
                  <c:v>8499</c:v>
                </c:pt>
                <c:pt idx="13">
                  <c:v>8399</c:v>
                </c:pt>
                <c:pt idx="14">
                  <c:v>8299</c:v>
                </c:pt>
                <c:pt idx="15">
                  <c:v>8599</c:v>
                </c:pt>
                <c:pt idx="16">
                  <c:v>8599</c:v>
                </c:pt>
                <c:pt idx="17">
                  <c:v>8499</c:v>
                </c:pt>
                <c:pt idx="18">
                  <c:v>8499</c:v>
                </c:pt>
                <c:pt idx="19">
                  <c:v>8399</c:v>
                </c:pt>
                <c:pt idx="20">
                  <c:v>8499</c:v>
                </c:pt>
                <c:pt idx="21">
                  <c:v>8699</c:v>
                </c:pt>
                <c:pt idx="22">
                  <c:v>8299</c:v>
                </c:pt>
                <c:pt idx="23">
                  <c:v>8499</c:v>
                </c:pt>
                <c:pt idx="24">
                  <c:v>8699</c:v>
                </c:pt>
                <c:pt idx="25">
                  <c:v>8299</c:v>
                </c:pt>
                <c:pt idx="26">
                  <c:v>8299</c:v>
                </c:pt>
                <c:pt idx="27">
                  <c:v>8299</c:v>
                </c:pt>
                <c:pt idx="28">
                  <c:v>8699</c:v>
                </c:pt>
                <c:pt idx="29">
                  <c:v>8699</c:v>
                </c:pt>
                <c:pt idx="30">
                  <c:v>8699</c:v>
                </c:pt>
                <c:pt idx="31">
                  <c:v>8499</c:v>
                </c:pt>
                <c:pt idx="32">
                  <c:v>8299</c:v>
                </c:pt>
                <c:pt idx="33">
                  <c:v>8399</c:v>
                </c:pt>
                <c:pt idx="34">
                  <c:v>8599</c:v>
                </c:pt>
                <c:pt idx="35">
                  <c:v>8699</c:v>
                </c:pt>
                <c:pt idx="36">
                  <c:v>8399</c:v>
                </c:pt>
                <c:pt idx="37">
                  <c:v>8499</c:v>
                </c:pt>
                <c:pt idx="38">
                  <c:v>8599</c:v>
                </c:pt>
                <c:pt idx="39">
                  <c:v>8399</c:v>
                </c:pt>
                <c:pt idx="40">
                  <c:v>8699</c:v>
                </c:pt>
                <c:pt idx="41">
                  <c:v>8299</c:v>
                </c:pt>
                <c:pt idx="42">
                  <c:v>8699</c:v>
                </c:pt>
                <c:pt idx="43">
                  <c:v>8399</c:v>
                </c:pt>
                <c:pt idx="44">
                  <c:v>8499</c:v>
                </c:pt>
                <c:pt idx="45">
                  <c:v>8599</c:v>
                </c:pt>
                <c:pt idx="46">
                  <c:v>8399</c:v>
                </c:pt>
                <c:pt idx="47">
                  <c:v>8699</c:v>
                </c:pt>
                <c:pt idx="48">
                  <c:v>8699</c:v>
                </c:pt>
                <c:pt idx="49">
                  <c:v>8299</c:v>
                </c:pt>
                <c:pt idx="50">
                  <c:v>8699</c:v>
                </c:pt>
                <c:pt idx="51">
                  <c:v>8399</c:v>
                </c:pt>
                <c:pt idx="52">
                  <c:v>8299</c:v>
                </c:pt>
                <c:pt idx="53">
                  <c:v>8499</c:v>
                </c:pt>
                <c:pt idx="54">
                  <c:v>8299</c:v>
                </c:pt>
                <c:pt idx="55">
                  <c:v>8299</c:v>
                </c:pt>
                <c:pt idx="56">
                  <c:v>8699</c:v>
                </c:pt>
                <c:pt idx="57">
                  <c:v>8699</c:v>
                </c:pt>
                <c:pt idx="58">
                  <c:v>8399</c:v>
                </c:pt>
                <c:pt idx="59">
                  <c:v>8599</c:v>
                </c:pt>
              </c:numCache>
            </c:numRef>
          </c:val>
          <c:smooth val="0"/>
        </c:ser>
        <c:ser>
          <c:idx val="1"/>
          <c:order val="1"/>
          <c:tx>
            <c:strRef>
              <c:f>Sheet1!$C$1</c:f>
              <c:strCache>
                <c:ptCount val="1"/>
                <c:pt idx="0">
                  <c:v>Store's "original" price</c:v>
                </c:pt>
              </c:strCache>
            </c:strRef>
          </c:tx>
          <c:spPr>
            <a:solidFill>
              <a:srgbClr val="B3261E"/>
            </a:solidFill>
            <a:ln w="38100" cap="flat">
              <a:solidFill>
                <a:srgbClr val="B326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3261E"/>
              </a:solidFill>
              <a:ln w="9525" cap="flat">
                <a:solidFill>
                  <a:srgbClr val="B3261E"/>
                </a:solidFill>
                <a:prstDash val="solid"/>
                <a:round/>
              </a:ln>
              <a:effectLst/>
            </c:spPr>
          </c:marker>
          <c:cat>
            <c:multiLvlStrRef>
              <c:f>Sheet1!$A$2:$A$61</c:f>
              <c:multiLvlStrCache>
                <c:ptCount val="60"/>
                <c:lvl>
                  <c:pt idx="0">
                    <c:v>60</c:v>
                  </c:pt>
                  <c:pt idx="1">
                    <c:v>59</c:v>
                  </c:pt>
                  <c:pt idx="2">
                    <c:v>58</c:v>
                  </c:pt>
                  <c:pt idx="3">
                    <c:v>57</c:v>
                  </c:pt>
                  <c:pt idx="4">
                    <c:v>56</c:v>
                  </c:pt>
                  <c:pt idx="5">
                    <c:v>55</c:v>
                  </c:pt>
                  <c:pt idx="6">
                    <c:v>54</c:v>
                  </c:pt>
                  <c:pt idx="7">
                    <c:v>53</c:v>
                  </c:pt>
                  <c:pt idx="8">
                    <c:v>52</c:v>
                  </c:pt>
                  <c:pt idx="9">
                    <c:v>51</c:v>
                  </c:pt>
                  <c:pt idx="10">
                    <c:v>50</c:v>
                  </c:pt>
                  <c:pt idx="11">
                    <c:v>49</c:v>
                  </c:pt>
                  <c:pt idx="12">
                    <c:v>48</c:v>
                  </c:pt>
                  <c:pt idx="13">
                    <c:v>47</c:v>
                  </c:pt>
                  <c:pt idx="14">
                    <c:v>46</c:v>
                  </c:pt>
                  <c:pt idx="15">
                    <c:v>45</c:v>
                  </c:pt>
                  <c:pt idx="16">
                    <c:v>44</c:v>
                  </c:pt>
                  <c:pt idx="17">
                    <c:v>43</c:v>
                  </c:pt>
                  <c:pt idx="18">
                    <c:v>42</c:v>
                  </c:pt>
                  <c:pt idx="19">
                    <c:v>41</c:v>
                  </c:pt>
                  <c:pt idx="20">
                    <c:v>40</c:v>
                  </c:pt>
                  <c:pt idx="21">
                    <c:v>39</c:v>
                  </c:pt>
                  <c:pt idx="22">
                    <c:v>38</c:v>
                  </c:pt>
                  <c:pt idx="23">
                    <c:v>37</c:v>
                  </c:pt>
                  <c:pt idx="24">
                    <c:v>36</c:v>
                  </c:pt>
                  <c:pt idx="25">
                    <c:v>35</c:v>
                  </c:pt>
                  <c:pt idx="26">
                    <c:v>34</c:v>
                  </c:pt>
                  <c:pt idx="27">
                    <c:v>33</c:v>
                  </c:pt>
                  <c:pt idx="28">
                    <c:v>32</c:v>
                  </c:pt>
                  <c:pt idx="29">
                    <c:v>31</c:v>
                  </c:pt>
                  <c:pt idx="30">
                    <c:v>30</c:v>
                  </c:pt>
                  <c:pt idx="31">
                    <c:v>29</c:v>
                  </c:pt>
                  <c:pt idx="32">
                    <c:v>28</c:v>
                  </c:pt>
                  <c:pt idx="33">
                    <c:v>27</c:v>
                  </c:pt>
                  <c:pt idx="34">
                    <c:v>26</c:v>
                  </c:pt>
                  <c:pt idx="35">
                    <c:v>25</c:v>
                  </c:pt>
                  <c:pt idx="36">
                    <c:v>24</c:v>
                  </c:pt>
                  <c:pt idx="37">
                    <c:v>23</c:v>
                  </c:pt>
                  <c:pt idx="38">
                    <c:v>22</c:v>
                  </c:pt>
                  <c:pt idx="39">
                    <c:v>21</c:v>
                  </c:pt>
                  <c:pt idx="40">
                    <c:v>20</c:v>
                  </c:pt>
                  <c:pt idx="41">
                    <c:v>19</c:v>
                  </c:pt>
                  <c:pt idx="42">
                    <c:v>18</c:v>
                  </c:pt>
                  <c:pt idx="43">
                    <c:v>17</c:v>
                  </c:pt>
                  <c:pt idx="44">
                    <c:v>16</c:v>
                  </c:pt>
                  <c:pt idx="45">
                    <c:v>15</c:v>
                  </c:pt>
                  <c:pt idx="46">
                    <c:v>14</c:v>
                  </c:pt>
                  <c:pt idx="47">
                    <c:v>13</c:v>
                  </c:pt>
                  <c:pt idx="48">
                    <c:v>12</c:v>
                  </c:pt>
                  <c:pt idx="49">
                    <c:v>11</c:v>
                  </c:pt>
                  <c:pt idx="50">
                    <c:v>10</c:v>
                  </c:pt>
                  <c:pt idx="51">
                    <c:v>9</c:v>
                  </c:pt>
                  <c:pt idx="52">
                    <c:v>8</c:v>
                  </c:pt>
                  <c:pt idx="53">
                    <c:v>7</c:v>
                  </c:pt>
                  <c:pt idx="54">
                    <c:v>6</c:v>
                  </c:pt>
                  <c:pt idx="55">
                    <c:v>5</c:v>
                  </c:pt>
                  <c:pt idx="56">
                    <c:v>4</c:v>
                  </c:pt>
                  <c:pt idx="57">
                    <c:v>3</c:v>
                  </c:pt>
                  <c:pt idx="58">
                    <c:v>2</c:v>
                  </c:pt>
                  <c:pt idx="59">
                    <c:v>1</c:v>
                  </c:pt>
                </c:lvl>
              </c:multiLvlStrCache>
            </c:multiLvlStrRef>
          </c:cat>
          <c:val>
            <c:numRef>
              <c:f>Sheet1!$C$2:$C$61</c:f>
              <c:numCache>
                <c:formatCode>General</c:formatCode>
                <c:ptCount val="60"/>
                <c:pt idx="0">
                  <c:v>12999</c:v>
                </c:pt>
                <c:pt idx="1">
                  <c:v>12999</c:v>
                </c:pt>
                <c:pt idx="2">
                  <c:v>12999</c:v>
                </c:pt>
                <c:pt idx="3">
                  <c:v>12999</c:v>
                </c:pt>
                <c:pt idx="4">
                  <c:v>12999</c:v>
                </c:pt>
                <c:pt idx="5">
                  <c:v>12999</c:v>
                </c:pt>
                <c:pt idx="6">
                  <c:v>12999</c:v>
                </c:pt>
                <c:pt idx="7">
                  <c:v>12999</c:v>
                </c:pt>
                <c:pt idx="8">
                  <c:v>12999</c:v>
                </c:pt>
                <c:pt idx="9">
                  <c:v>12999</c:v>
                </c:pt>
                <c:pt idx="10">
                  <c:v>12999</c:v>
                </c:pt>
                <c:pt idx="11">
                  <c:v>12999</c:v>
                </c:pt>
                <c:pt idx="12">
                  <c:v>12999</c:v>
                </c:pt>
                <c:pt idx="13">
                  <c:v>12999</c:v>
                </c:pt>
                <c:pt idx="14">
                  <c:v>12999</c:v>
                </c:pt>
                <c:pt idx="15">
                  <c:v>12999</c:v>
                </c:pt>
                <c:pt idx="16">
                  <c:v>12999</c:v>
                </c:pt>
                <c:pt idx="17">
                  <c:v>12999</c:v>
                </c:pt>
                <c:pt idx="18">
                  <c:v>12999</c:v>
                </c:pt>
                <c:pt idx="19">
                  <c:v>12999</c:v>
                </c:pt>
                <c:pt idx="20">
                  <c:v>12999</c:v>
                </c:pt>
                <c:pt idx="21">
                  <c:v>12999</c:v>
                </c:pt>
                <c:pt idx="22">
                  <c:v>12999</c:v>
                </c:pt>
                <c:pt idx="23">
                  <c:v>12999</c:v>
                </c:pt>
                <c:pt idx="24">
                  <c:v>12999</c:v>
                </c:pt>
                <c:pt idx="25">
                  <c:v>12999</c:v>
                </c:pt>
                <c:pt idx="26">
                  <c:v>12999</c:v>
                </c:pt>
                <c:pt idx="27">
                  <c:v>12999</c:v>
                </c:pt>
                <c:pt idx="28">
                  <c:v>12999</c:v>
                </c:pt>
                <c:pt idx="29">
                  <c:v>12999</c:v>
                </c:pt>
                <c:pt idx="30">
                  <c:v>12999</c:v>
                </c:pt>
                <c:pt idx="31">
                  <c:v>12999</c:v>
                </c:pt>
                <c:pt idx="32">
                  <c:v>12999</c:v>
                </c:pt>
                <c:pt idx="33">
                  <c:v>12999</c:v>
                </c:pt>
                <c:pt idx="34">
                  <c:v>12999</c:v>
                </c:pt>
                <c:pt idx="35">
                  <c:v>12999</c:v>
                </c:pt>
                <c:pt idx="36">
                  <c:v>12999</c:v>
                </c:pt>
                <c:pt idx="37">
                  <c:v>12999</c:v>
                </c:pt>
                <c:pt idx="38">
                  <c:v>12999</c:v>
                </c:pt>
                <c:pt idx="39">
                  <c:v>12999</c:v>
                </c:pt>
                <c:pt idx="40">
                  <c:v>12999</c:v>
                </c:pt>
                <c:pt idx="41">
                  <c:v>12999</c:v>
                </c:pt>
                <c:pt idx="42">
                  <c:v>12999</c:v>
                </c:pt>
                <c:pt idx="43">
                  <c:v>12999</c:v>
                </c:pt>
                <c:pt idx="44">
                  <c:v>12999</c:v>
                </c:pt>
                <c:pt idx="45">
                  <c:v>12999</c:v>
                </c:pt>
                <c:pt idx="46">
                  <c:v>12999</c:v>
                </c:pt>
                <c:pt idx="47">
                  <c:v>12999</c:v>
                </c:pt>
                <c:pt idx="48">
                  <c:v>12999</c:v>
                </c:pt>
                <c:pt idx="49">
                  <c:v>12999</c:v>
                </c:pt>
                <c:pt idx="50">
                  <c:v>12999</c:v>
                </c:pt>
                <c:pt idx="51">
                  <c:v>12999</c:v>
                </c:pt>
                <c:pt idx="52">
                  <c:v>12999</c:v>
                </c:pt>
                <c:pt idx="53">
                  <c:v>12999</c:v>
                </c:pt>
                <c:pt idx="54">
                  <c:v>12999</c:v>
                </c:pt>
                <c:pt idx="55">
                  <c:v>12999</c:v>
                </c:pt>
                <c:pt idx="56">
                  <c:v>12999</c:v>
                </c:pt>
                <c:pt idx="57">
                  <c:v>12999</c:v>
                </c:pt>
                <c:pt idx="58">
                  <c:v>12999</c:v>
                </c:pt>
                <c:pt idx="59">
                  <c:v>12999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760"/>
                    </a:solidFill>
                    <a:latin typeface="+mn-lt"/>
                  </a:defRPr>
                </a:pPr>
                <a:r>
                  <a:rPr sz="1100" b="0" i="0" u="none" strike="noStrike">
                    <a:solidFill>
                      <a:srgbClr val="5B6760"/>
                    </a:solidFill>
                    <a:latin typeface="+mn-lt"/>
                  </a:rPr>
                  <a:t>Days ago</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760"/>
                </a:solidFill>
                <a:latin typeface="+mn-lt"/>
              </a:defRPr>
            </a:pPr>
            <a:endParaRPr lang="en-US"/>
          </a:p>
        </c:txPr>
        <c:crossAx val="2094734552"/>
        <c:crosses val="autoZero"/>
        <c:auto val="1"/>
        <c:lblAlgn val="ctr"/>
        <c:noMultiLvlLbl val="1"/>
        <c:tickLblSkip val="10"/>
      </c:catAx>
      <c:valAx>
        <c:axId val="2094734552"/>
        <c:scaling>
          <c:orientation val="minMax"/>
          <c:max val="14000"/>
          <c:min val="0"/>
        </c:scaling>
        <c:delete val="0"/>
        <c:axPos val="l"/>
        <c:majorGridlines>
          <c:spPr>
            <a:ln w="9525" cap="flat">
              <a:solidFill>
                <a:srgbClr val="D9E2DD"/>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760"/>
                </a:solidFill>
                <a:latin typeface="+mn-lt"/>
              </a:defRPr>
            </a:pPr>
            <a:endParaRPr lang="en-US"/>
          </a:p>
        </c:txPr>
        <c:crossAx val="2094734554"/>
        <c:crosses val="autoZero"/>
        <c:crossBetween val="between"/>
        <c:majorUnit val="2000"/>
      </c:valAx>
      <c:spPr>
        <a:noFill/>
        <a:ln>
          <a:noFill/>
        </a:ln>
        <a:effectLst/>
      </c:spPr>
    </c:plotArea>
    <c:legend>
      <c:legendPos val="b"/>
      <c:overlay val="0"/>
      <c:txPr>
        <a:bodyPr/>
        <a:lstStyle/>
        <a:p>
          <a:pPr>
            <a:defRPr sz="1200">
              <a:solidFill>
                <a:srgbClr val="2E3B3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DealScout. One line: trackers watch a product, we watch a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Priya wants an audio interface under 15 thousand rupees. She checks five sites every few days. Trackers don't help, and the banner discount is often fake.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steps left to right. The quote is the exact request we type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UI. Run npm run ui, open localhost:3000, click Scout deals.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red exclamation mark: the fake discount is caught live. The test-data run is instant, so the UI paces the lines so they can be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PreSonus AudioBox on test data. The red line is the 'original price' the store shows. The green line is what it actually sold for. It never came close, so the discount is fake.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a price tracker cannot do: it compares against what the buyer actually asked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Gemini watch spec and discovery are written; deploy, Firestore and email sending are the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price history takes days to accumulate, which is why the demo uses seeded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68680"/>
          </a:xfrm>
          <a:prstGeom prst="rect">
            <a:avLst/>
          </a:prstGeom>
          <a:noFill/>
          <a:ln/>
        </p:spPr>
        <p:txBody>
          <a:bodyPr wrap="square" rtlCol="0"/>
          <a:lstStyle>
            <a:lvl1pPr indent="0" marL="0">
              <a:buNone/>
              <a:defRPr lang="en-US" sz="3000" b="1" dirty="0">
                <a:solidFill>
                  <a:schemeClr val="tx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640080" y="1371600"/>
            <a:ext cx="4937760" cy="91440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DealScout</a:t>
            </a:r>
            <a:endParaRPr lang="en-US" sz="5400" dirty="0"/>
          </a:p>
        </p:txBody>
      </p:sp>
      <p:sp>
        <p:nvSpPr>
          <p:cNvPr id="3" name="Subtitle"/>
          <p:cNvSpPr txBox="1"/>
          <p:nvPr/>
        </p:nvSpPr>
        <p:spPr>
          <a:xfrm>
            <a:off x="640080" y="2377440"/>
            <a:ext cx="4937760" cy="457200"/>
          </a:xfrm>
          <a:prstGeom prst="rect">
            <a:avLst/>
          </a:prstGeom>
          <a:noFill/>
          <a:ln/>
        </p:spPr>
        <p:txBody>
          <a:bodyPr wrap="square" lIns="0" tIns="0" rIns="0" bIns="0" rtlCol="0" anchor="ctr"/>
          <a:lstStyle/>
          <a:p>
            <a:pPr indent="0" marL="0">
              <a:buNone/>
            </a:pPr>
            <a:r>
              <a:rPr lang="en-US" sz="2200" dirty="0">
                <a:solidFill>
                  <a:schemeClr val="accent5"/>
                </a:solidFill>
              </a:rPr>
              <a:t>Watches the need, not the product.</a:t>
            </a:r>
            <a:endParaRPr lang="en-US" sz="2200" dirty="0"/>
          </a:p>
        </p:txBody>
      </p:sp>
      <p:sp>
        <p:nvSpPr>
          <p:cNvPr id="4" name="Tagline"/>
          <p:cNvSpPr txBox="1"/>
          <p:nvPr/>
        </p:nvSpPr>
        <p:spPr>
          <a:xfrm>
            <a:off x="640080" y="3017520"/>
            <a:ext cx="4937760" cy="365760"/>
          </a:xfrm>
          <a:prstGeom prst="rect">
            <a:avLst/>
          </a:prstGeom>
          <a:noFill/>
          <a:ln/>
        </p:spPr>
        <p:txBody>
          <a:bodyPr wrap="square" lIns="0" tIns="0" rIns="0" bIns="0" rtlCol="0" anchor="ctr"/>
          <a:lstStyle/>
          <a:p>
            <a:pPr indent="0" marL="0">
              <a:buNone/>
            </a:pPr>
            <a:r>
              <a:rPr lang="en-US" sz="1400" dirty="0">
                <a:solidFill>
                  <a:schemeClr val="bg2"/>
                </a:solidFill>
              </a:rPr>
              <a:t>An AI shopping scout built on Gemini and Google Cloud</a:t>
            </a:r>
            <a:endParaRPr lang="en-US" sz="1400" dirty="0"/>
          </a:p>
        </p:txBody>
      </p:sp>
      <p:sp>
        <p:nvSpPr>
          <p:cNvPr id="5" name="Chip BUY NOW"/>
          <p:cNvSpPr/>
          <p:nvPr/>
        </p:nvSpPr>
        <p:spPr>
          <a:xfrm>
            <a:off x="6126480" y="1234440"/>
            <a:ext cx="2377440" cy="685800"/>
          </a:xfrm>
          <a:prstGeom prst="roundRect">
            <a:avLst>
              <a:gd name="adj" fmla="val 13333"/>
            </a:avLst>
          </a:prstGeom>
          <a:solidFill>
            <a:schemeClr val="accent1"/>
          </a:solidFill>
          <a:ln w="12700">
            <a:solidFill>
              <a:schemeClr val="accent1"/>
            </a:solidFill>
            <a:prstDash val="solid"/>
          </a:ln>
        </p:spPr>
      </p:sp>
      <p:sp>
        <p:nvSpPr>
          <p:cNvPr id="6" name="Chip label BUY NOW"/>
          <p:cNvSpPr txBox="1"/>
          <p:nvPr/>
        </p:nvSpPr>
        <p:spPr>
          <a:xfrm>
            <a:off x="6126480" y="1234440"/>
            <a:ext cx="2377440" cy="685800"/>
          </a:xfrm>
          <a:prstGeom prst="rect">
            <a:avLst/>
          </a:prstGeom>
          <a:noFill/>
          <a:ln/>
        </p:spPr>
        <p:txBody>
          <a:bodyPr wrap="square" lIns="0" tIns="0" rIns="0" bIns="0" rtlCol="0" anchor="ctr"/>
          <a:lstStyle/>
          <a:p>
            <a:pPr algn="ctr" indent="0" marL="0">
              <a:buNone/>
            </a:pPr>
            <a:r>
              <a:rPr lang="en-US" sz="1600" b="1" spc="200" kern="0" dirty="0">
                <a:solidFill>
                  <a:schemeClr val="bg1"/>
                </a:solidFill>
              </a:rPr>
              <a:t>BUY NOW</a:t>
            </a:r>
            <a:endParaRPr lang="en-US" sz="1600" dirty="0"/>
          </a:p>
        </p:txBody>
      </p:sp>
      <p:sp>
        <p:nvSpPr>
          <p:cNvPr id="7" name="Chip WAIT"/>
          <p:cNvSpPr/>
          <p:nvPr/>
        </p:nvSpPr>
        <p:spPr>
          <a:xfrm>
            <a:off x="6355080" y="2148840"/>
            <a:ext cx="2377440" cy="685800"/>
          </a:xfrm>
          <a:prstGeom prst="roundRect">
            <a:avLst>
              <a:gd name="adj" fmla="val 13333"/>
            </a:avLst>
          </a:prstGeom>
          <a:solidFill>
            <a:schemeClr val="accent2"/>
          </a:solidFill>
          <a:ln w="12700">
            <a:solidFill>
              <a:schemeClr val="accent2"/>
            </a:solidFill>
            <a:prstDash val="solid"/>
          </a:ln>
        </p:spPr>
      </p:sp>
      <p:sp>
        <p:nvSpPr>
          <p:cNvPr id="8" name="Chip label WAIT"/>
          <p:cNvSpPr txBox="1"/>
          <p:nvPr/>
        </p:nvSpPr>
        <p:spPr>
          <a:xfrm>
            <a:off x="6355080" y="2148840"/>
            <a:ext cx="2377440" cy="685800"/>
          </a:xfrm>
          <a:prstGeom prst="rect">
            <a:avLst/>
          </a:prstGeom>
          <a:noFill/>
          <a:ln/>
        </p:spPr>
        <p:txBody>
          <a:bodyPr wrap="square" lIns="0" tIns="0" rIns="0" bIns="0" rtlCol="0" anchor="ctr"/>
          <a:lstStyle/>
          <a:p>
            <a:pPr algn="ctr" indent="0" marL="0">
              <a:buNone/>
            </a:pPr>
            <a:r>
              <a:rPr lang="en-US" sz="1600" b="1" spc="200" kern="0" dirty="0">
                <a:solidFill>
                  <a:schemeClr val="bg1"/>
                </a:solidFill>
              </a:rPr>
              <a:t>WAIT</a:t>
            </a:r>
            <a:endParaRPr lang="en-US" sz="1600" dirty="0"/>
          </a:p>
        </p:txBody>
      </p:sp>
      <p:sp>
        <p:nvSpPr>
          <p:cNvPr id="9" name="Chip FAKE DISCOUNT"/>
          <p:cNvSpPr/>
          <p:nvPr/>
        </p:nvSpPr>
        <p:spPr>
          <a:xfrm>
            <a:off x="6583680" y="3063240"/>
            <a:ext cx="2377440" cy="685800"/>
          </a:xfrm>
          <a:prstGeom prst="roundRect">
            <a:avLst>
              <a:gd name="adj" fmla="val 13333"/>
            </a:avLst>
          </a:prstGeom>
          <a:solidFill>
            <a:schemeClr val="accent3"/>
          </a:solidFill>
          <a:ln w="12700">
            <a:solidFill>
              <a:schemeClr val="accent3"/>
            </a:solidFill>
            <a:prstDash val="solid"/>
          </a:ln>
        </p:spPr>
      </p:sp>
      <p:sp>
        <p:nvSpPr>
          <p:cNvPr id="10" name="Chip label FAKE DISCOUNT"/>
          <p:cNvSpPr txBox="1"/>
          <p:nvPr/>
        </p:nvSpPr>
        <p:spPr>
          <a:xfrm>
            <a:off x="6583680" y="3063240"/>
            <a:ext cx="2377440" cy="685800"/>
          </a:xfrm>
          <a:prstGeom prst="rect">
            <a:avLst/>
          </a:prstGeom>
          <a:noFill/>
          <a:ln/>
        </p:spPr>
        <p:txBody>
          <a:bodyPr wrap="square" lIns="0" tIns="0" rIns="0" bIns="0" rtlCol="0" anchor="ctr"/>
          <a:lstStyle/>
          <a:p>
            <a:pPr algn="ctr" indent="0" marL="0">
              <a:buNone/>
            </a:pPr>
            <a:r>
              <a:rPr lang="en-US" sz="1600" b="1" spc="200" kern="0" dirty="0">
                <a:solidFill>
                  <a:schemeClr val="bg1"/>
                </a:solidFill>
              </a:rPr>
              <a:t>FAKE DISCOUNT</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686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Shopping on a budget means checking everywhere, all the time</a:t>
            </a:r>
            <a:endParaRPr lang="en-US" sz="3000" dirty="0"/>
          </a:p>
        </p:txBody>
      </p:sp>
      <p:sp>
        <p:nvSpPr>
          <p:cNvPr id="3" name="Card 1"/>
          <p:cNvSpPr/>
          <p:nvPr/>
        </p:nvSpPr>
        <p:spPr>
          <a:xfrm>
            <a:off x="548640" y="1554480"/>
            <a:ext cx="2560320" cy="2834640"/>
          </a:xfrm>
          <a:prstGeom prst="roundRect">
            <a:avLst>
              <a:gd name="adj" fmla="val 2857"/>
            </a:avLst>
          </a:prstGeom>
          <a:solidFill>
            <a:schemeClr val="bg2"/>
          </a:solidFill>
          <a:ln w="12700">
            <a:solidFill>
              <a:schemeClr val="bg2"/>
            </a:solidFill>
            <a:prstDash val="solid"/>
          </a:ln>
        </p:spPr>
      </p:sp>
      <p:sp>
        <p:nvSpPr>
          <p:cNvPr id="4" name="Stat 1"/>
          <p:cNvSpPr txBox="1"/>
          <p:nvPr/>
        </p:nvSpPr>
        <p:spPr>
          <a:xfrm>
            <a:off x="777240" y="1783080"/>
            <a:ext cx="210312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5+</a:t>
            </a:r>
            <a:endParaRPr lang="en-US" sz="4000" dirty="0"/>
          </a:p>
        </p:txBody>
      </p:sp>
      <p:sp>
        <p:nvSpPr>
          <p:cNvPr id="5" name="Label 1"/>
          <p:cNvSpPr txBox="1"/>
          <p:nvPr/>
        </p:nvSpPr>
        <p:spPr>
          <a:xfrm>
            <a:off x="777240" y="2651760"/>
            <a:ext cx="2103120" cy="320040"/>
          </a:xfrm>
          <a:prstGeom prst="rect">
            <a:avLst/>
          </a:prstGeom>
          <a:noFill/>
          <a:ln/>
        </p:spPr>
        <p:txBody>
          <a:bodyPr wrap="square" lIns="0" tIns="0" rIns="0" bIns="0" rtlCol="0" anchor="ctr"/>
          <a:lstStyle/>
          <a:p>
            <a:pPr indent="0" marL="0">
              <a:buNone/>
            </a:pPr>
            <a:r>
              <a:rPr lang="en-US" sz="1600" b="1" dirty="0">
                <a:solidFill>
                  <a:schemeClr val="tx1"/>
                </a:solidFill>
              </a:rPr>
              <a:t>stores to check</a:t>
            </a:r>
            <a:endParaRPr lang="en-US" sz="1600" dirty="0"/>
          </a:p>
        </p:txBody>
      </p:sp>
      <p:sp>
        <p:nvSpPr>
          <p:cNvPr id="6" name="Body 1"/>
          <p:cNvSpPr txBox="1"/>
          <p:nvPr/>
        </p:nvSpPr>
        <p:spPr>
          <a:xfrm>
            <a:off x="777240" y="3063240"/>
            <a:ext cx="2103120" cy="1188720"/>
          </a:xfrm>
          <a:prstGeom prst="rect">
            <a:avLst/>
          </a:prstGeom>
          <a:noFill/>
          <a:ln/>
        </p:spPr>
        <p:txBody>
          <a:bodyPr wrap="square" lIns="0" tIns="0" rIns="0" bIns="0" rtlCol="0" anchor="t"/>
          <a:lstStyle/>
          <a:p>
            <a:pPr indent="0" marL="0">
              <a:buNone/>
            </a:pPr>
            <a:r>
              <a:rPr lang="en-US" sz="1400" dirty="0">
                <a:solidFill>
                  <a:schemeClr val="tx2"/>
                </a:solidFill>
              </a:rPr>
              <a:t>Amazon, Flipkart and niche music shops each list different models at different prices.</a:t>
            </a:r>
            <a:endParaRPr lang="en-US" sz="1400" dirty="0"/>
          </a:p>
        </p:txBody>
      </p:sp>
      <p:sp>
        <p:nvSpPr>
          <p:cNvPr id="7" name="Card 2"/>
          <p:cNvSpPr/>
          <p:nvPr/>
        </p:nvSpPr>
        <p:spPr>
          <a:xfrm>
            <a:off x="3291840" y="1554480"/>
            <a:ext cx="2560320" cy="2834640"/>
          </a:xfrm>
          <a:prstGeom prst="roundRect">
            <a:avLst>
              <a:gd name="adj" fmla="val 2857"/>
            </a:avLst>
          </a:prstGeom>
          <a:solidFill>
            <a:schemeClr val="bg2"/>
          </a:solidFill>
          <a:ln w="12700">
            <a:solidFill>
              <a:schemeClr val="bg2"/>
            </a:solidFill>
            <a:prstDash val="solid"/>
          </a:ln>
        </p:spPr>
      </p:sp>
      <p:sp>
        <p:nvSpPr>
          <p:cNvPr id="8" name="Stat 2"/>
          <p:cNvSpPr txBox="1"/>
          <p:nvPr/>
        </p:nvSpPr>
        <p:spPr>
          <a:xfrm>
            <a:off x="3520440" y="1783080"/>
            <a:ext cx="210312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a:t>
            </a:r>
            <a:endParaRPr lang="en-US" sz="4000" dirty="0"/>
          </a:p>
        </p:txBody>
      </p:sp>
      <p:sp>
        <p:nvSpPr>
          <p:cNvPr id="9" name="Label 2"/>
          <p:cNvSpPr txBox="1"/>
          <p:nvPr/>
        </p:nvSpPr>
        <p:spPr>
          <a:xfrm>
            <a:off x="3520440" y="2651760"/>
            <a:ext cx="2103120" cy="320040"/>
          </a:xfrm>
          <a:prstGeom prst="rect">
            <a:avLst/>
          </a:prstGeom>
          <a:noFill/>
          <a:ln/>
        </p:spPr>
        <p:txBody>
          <a:bodyPr wrap="square" lIns="0" tIns="0" rIns="0" bIns="0" rtlCol="0" anchor="ctr"/>
          <a:lstStyle/>
          <a:p>
            <a:pPr indent="0" marL="0">
              <a:buNone/>
            </a:pPr>
            <a:r>
              <a:rPr lang="en-US" sz="1600" b="1" dirty="0">
                <a:solidFill>
                  <a:schemeClr val="tx1"/>
                </a:solidFill>
              </a:rPr>
              <a:t>link per tracker</a:t>
            </a:r>
            <a:endParaRPr lang="en-US" sz="1600" dirty="0"/>
          </a:p>
        </p:txBody>
      </p:sp>
      <p:sp>
        <p:nvSpPr>
          <p:cNvPr id="10" name="Body 2"/>
          <p:cNvSpPr txBox="1"/>
          <p:nvPr/>
        </p:nvSpPr>
        <p:spPr>
          <a:xfrm>
            <a:off x="3520440" y="3063240"/>
            <a:ext cx="2103120" cy="1188720"/>
          </a:xfrm>
          <a:prstGeom prst="rect">
            <a:avLst/>
          </a:prstGeom>
          <a:noFill/>
          <a:ln/>
        </p:spPr>
        <p:txBody>
          <a:bodyPr wrap="square" lIns="0" tIns="0" rIns="0" bIns="0" rtlCol="0" anchor="t"/>
          <a:lstStyle/>
          <a:p>
            <a:pPr indent="0" marL="0">
              <a:buNone/>
            </a:pPr>
            <a:r>
              <a:rPr lang="en-US" sz="1400" dirty="0">
                <a:solidFill>
                  <a:schemeClr val="tx2"/>
                </a:solidFill>
              </a:rPr>
              <a:t>Price trackers only watch a product you already picked, so you never see the options you missed.</a:t>
            </a:r>
            <a:endParaRPr lang="en-US" sz="1400" dirty="0"/>
          </a:p>
        </p:txBody>
      </p:sp>
      <p:sp>
        <p:nvSpPr>
          <p:cNvPr id="11" name="Card 3"/>
          <p:cNvSpPr/>
          <p:nvPr/>
        </p:nvSpPr>
        <p:spPr>
          <a:xfrm>
            <a:off x="6035040" y="1554480"/>
            <a:ext cx="2560320" cy="2834640"/>
          </a:xfrm>
          <a:prstGeom prst="roundRect">
            <a:avLst>
              <a:gd name="adj" fmla="val 2857"/>
            </a:avLst>
          </a:prstGeom>
          <a:solidFill>
            <a:schemeClr val="bg2"/>
          </a:solidFill>
          <a:ln w="12700">
            <a:solidFill>
              <a:schemeClr val="bg2"/>
            </a:solidFill>
            <a:prstDash val="solid"/>
          </a:ln>
        </p:spPr>
      </p:sp>
      <p:sp>
        <p:nvSpPr>
          <p:cNvPr id="12" name="Stat 3"/>
          <p:cNvSpPr txBox="1"/>
          <p:nvPr/>
        </p:nvSpPr>
        <p:spPr>
          <a:xfrm>
            <a:off x="6263640" y="1783080"/>
            <a:ext cx="2103120" cy="82296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₹12,999</a:t>
            </a:r>
            <a:endParaRPr lang="en-US" sz="4000" dirty="0"/>
          </a:p>
        </p:txBody>
      </p:sp>
      <p:sp>
        <p:nvSpPr>
          <p:cNvPr id="13" name="Label 3"/>
          <p:cNvSpPr txBox="1"/>
          <p:nvPr/>
        </p:nvSpPr>
        <p:spPr>
          <a:xfrm>
            <a:off x="6263640" y="2651760"/>
            <a:ext cx="2103120" cy="320040"/>
          </a:xfrm>
          <a:prstGeom prst="rect">
            <a:avLst/>
          </a:prstGeom>
          <a:noFill/>
          <a:ln/>
        </p:spPr>
        <p:txBody>
          <a:bodyPr wrap="square" lIns="0" tIns="0" rIns="0" bIns="0" rtlCol="0" anchor="ctr"/>
          <a:lstStyle/>
          <a:p>
            <a:pPr indent="0" marL="0">
              <a:buNone/>
            </a:pPr>
            <a:r>
              <a:rPr lang="en-US" sz="1600" b="1" dirty="0">
                <a:solidFill>
                  <a:schemeClr val="tx1"/>
                </a:solidFill>
              </a:rPr>
              <a:t>was never the price</a:t>
            </a:r>
            <a:endParaRPr lang="en-US" sz="1600" dirty="0"/>
          </a:p>
        </p:txBody>
      </p:sp>
      <p:sp>
        <p:nvSpPr>
          <p:cNvPr id="14" name="Body 3"/>
          <p:cNvSpPr txBox="1"/>
          <p:nvPr/>
        </p:nvSpPr>
        <p:spPr>
          <a:xfrm>
            <a:off x="6263640" y="3063240"/>
            <a:ext cx="2103120" cy="1188720"/>
          </a:xfrm>
          <a:prstGeom prst="rect">
            <a:avLst/>
          </a:prstGeom>
          <a:noFill/>
          <a:ln/>
        </p:spPr>
        <p:txBody>
          <a:bodyPr wrap="square" lIns="0" tIns="0" rIns="0" bIns="0" rtlCol="0" anchor="t"/>
          <a:lstStyle/>
          <a:p>
            <a:pPr indent="0" marL="0">
              <a:buNone/>
            </a:pPr>
            <a:r>
              <a:rPr lang="en-US" sz="1400" dirty="0">
                <a:solidFill>
                  <a:schemeClr val="tx2"/>
                </a:solidFill>
              </a:rPr>
              <a:t>"35% off" is often measured against a price the product never sold at.</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686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Describe the need. DealScout does the watching.</a:t>
            </a:r>
            <a:endParaRPr lang="en-US" sz="3000" dirty="0"/>
          </a:p>
        </p:txBody>
      </p:sp>
      <p:sp>
        <p:nvSpPr>
          <p:cNvPr id="3" name="Step 1"/>
          <p:cNvSpPr/>
          <p:nvPr/>
        </p:nvSpPr>
        <p:spPr>
          <a:xfrm>
            <a:off x="548640" y="1600200"/>
            <a:ext cx="1463040" cy="1920240"/>
          </a:xfrm>
          <a:prstGeom prst="roundRect">
            <a:avLst>
              <a:gd name="adj" fmla="val 5000"/>
            </a:avLst>
          </a:prstGeom>
          <a:solidFill>
            <a:schemeClr val="bg2"/>
          </a:solidFill>
          <a:ln w="12700">
            <a:solidFill>
              <a:schemeClr val="bg2"/>
            </a:solidFill>
            <a:prstDash val="solid"/>
          </a:ln>
        </p:spPr>
      </p:sp>
      <p:sp>
        <p:nvSpPr>
          <p:cNvPr id="4" name="Step number 1"/>
          <p:cNvSpPr txBox="1"/>
          <p:nvPr/>
        </p:nvSpPr>
        <p:spPr>
          <a:xfrm>
            <a:off x="731520" y="1783080"/>
            <a:ext cx="45720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1</a:t>
            </a:r>
            <a:endParaRPr lang="en-US" sz="2600" dirty="0"/>
          </a:p>
        </p:txBody>
      </p:sp>
      <p:sp>
        <p:nvSpPr>
          <p:cNvPr id="5" name="Step title 1"/>
          <p:cNvSpPr txBox="1"/>
          <p:nvPr/>
        </p:nvSpPr>
        <p:spPr>
          <a:xfrm>
            <a:off x="731520" y="2286000"/>
            <a:ext cx="1143000" cy="320040"/>
          </a:xfrm>
          <a:prstGeom prst="rect">
            <a:avLst/>
          </a:prstGeom>
          <a:noFill/>
          <a:ln/>
        </p:spPr>
        <p:txBody>
          <a:bodyPr wrap="square" lIns="0" tIns="0" rIns="0" bIns="0" rtlCol="0" anchor="ctr"/>
          <a:lstStyle/>
          <a:p>
            <a:pPr indent="0" marL="0">
              <a:buNone/>
            </a:pPr>
            <a:r>
              <a:rPr lang="en-US" sz="1600" b="1" dirty="0">
                <a:solidFill>
                  <a:schemeClr val="tx1"/>
                </a:solidFill>
              </a:rPr>
              <a:t>Describe</a:t>
            </a:r>
            <a:endParaRPr lang="en-US" sz="1600" dirty="0"/>
          </a:p>
        </p:txBody>
      </p:sp>
      <p:sp>
        <p:nvSpPr>
          <p:cNvPr id="6" name="Step body 1"/>
          <p:cNvSpPr txBox="1"/>
          <p:nvPr/>
        </p:nvSpPr>
        <p:spPr>
          <a:xfrm>
            <a:off x="731520" y="2651760"/>
            <a:ext cx="1143000" cy="777240"/>
          </a:xfrm>
          <a:prstGeom prst="rect">
            <a:avLst/>
          </a:prstGeom>
          <a:noFill/>
          <a:ln/>
        </p:spPr>
        <p:txBody>
          <a:bodyPr wrap="square" lIns="0" tIns="0" rIns="0" bIns="0" rtlCol="0" anchor="t"/>
          <a:lstStyle/>
          <a:p>
            <a:pPr indent="0" marL="0">
              <a:buNone/>
            </a:pPr>
            <a:r>
              <a:rPr lang="en-US" sz="1200" dirty="0">
                <a:solidFill>
                  <a:schemeClr val="tx2"/>
                </a:solidFill>
              </a:rPr>
              <a:t>Plain English plus a budget</a:t>
            </a:r>
            <a:endParaRPr lang="en-US" sz="1200" dirty="0"/>
          </a:p>
        </p:txBody>
      </p:sp>
      <p:sp>
        <p:nvSpPr>
          <p:cNvPr id="7" name="Step 2"/>
          <p:cNvSpPr/>
          <p:nvPr/>
        </p:nvSpPr>
        <p:spPr>
          <a:xfrm>
            <a:off x="2176272" y="1600200"/>
            <a:ext cx="1463040" cy="1920240"/>
          </a:xfrm>
          <a:prstGeom prst="roundRect">
            <a:avLst>
              <a:gd name="adj" fmla="val 5000"/>
            </a:avLst>
          </a:prstGeom>
          <a:solidFill>
            <a:schemeClr val="bg2"/>
          </a:solidFill>
          <a:ln w="12700">
            <a:solidFill>
              <a:schemeClr val="bg2"/>
            </a:solidFill>
            <a:prstDash val="solid"/>
          </a:ln>
        </p:spPr>
      </p:sp>
      <p:sp>
        <p:nvSpPr>
          <p:cNvPr id="8" name="Step number 2"/>
          <p:cNvSpPr txBox="1"/>
          <p:nvPr/>
        </p:nvSpPr>
        <p:spPr>
          <a:xfrm>
            <a:off x="2359152" y="1783080"/>
            <a:ext cx="45720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2</a:t>
            </a:r>
            <a:endParaRPr lang="en-US" sz="2600" dirty="0"/>
          </a:p>
        </p:txBody>
      </p:sp>
      <p:sp>
        <p:nvSpPr>
          <p:cNvPr id="9" name="Step title 2"/>
          <p:cNvSpPr txBox="1"/>
          <p:nvPr/>
        </p:nvSpPr>
        <p:spPr>
          <a:xfrm>
            <a:off x="2359152" y="2286000"/>
            <a:ext cx="1143000" cy="320040"/>
          </a:xfrm>
          <a:prstGeom prst="rect">
            <a:avLst/>
          </a:prstGeom>
          <a:noFill/>
          <a:ln/>
        </p:spPr>
        <p:txBody>
          <a:bodyPr wrap="square" lIns="0" tIns="0" rIns="0" bIns="0" rtlCol="0" anchor="ctr"/>
          <a:lstStyle/>
          <a:p>
            <a:pPr indent="0" marL="0">
              <a:buNone/>
            </a:pPr>
            <a:r>
              <a:rPr lang="en-US" sz="1600" b="1" dirty="0">
                <a:solidFill>
                  <a:schemeClr val="tx1"/>
                </a:solidFill>
              </a:rPr>
              <a:t>Spec</a:t>
            </a:r>
            <a:endParaRPr lang="en-US" sz="1600" dirty="0"/>
          </a:p>
        </p:txBody>
      </p:sp>
      <p:sp>
        <p:nvSpPr>
          <p:cNvPr id="10" name="Step body 2"/>
          <p:cNvSpPr txBox="1"/>
          <p:nvPr/>
        </p:nvSpPr>
        <p:spPr>
          <a:xfrm>
            <a:off x="2359152" y="2651760"/>
            <a:ext cx="1143000" cy="777240"/>
          </a:xfrm>
          <a:prstGeom prst="rect">
            <a:avLst/>
          </a:prstGeom>
          <a:noFill/>
          <a:ln/>
        </p:spPr>
        <p:txBody>
          <a:bodyPr wrap="square" lIns="0" tIns="0" rIns="0" bIns="0" rtlCol="0" anchor="t"/>
          <a:lstStyle/>
          <a:p>
            <a:pPr indent="0" marL="0">
              <a:buNone/>
            </a:pPr>
            <a:r>
              <a:rPr lang="en-US" sz="1200" dirty="0">
                <a:solidFill>
                  <a:schemeClr val="tx2"/>
                </a:solidFill>
              </a:rPr>
              <a:t>Gemini turns it into a watch spec</a:t>
            </a:r>
            <a:endParaRPr lang="en-US" sz="1200" dirty="0"/>
          </a:p>
        </p:txBody>
      </p:sp>
      <p:sp>
        <p:nvSpPr>
          <p:cNvPr id="11" name="Step 3"/>
          <p:cNvSpPr/>
          <p:nvPr/>
        </p:nvSpPr>
        <p:spPr>
          <a:xfrm>
            <a:off x="3803904" y="1600200"/>
            <a:ext cx="1463040" cy="1920240"/>
          </a:xfrm>
          <a:prstGeom prst="roundRect">
            <a:avLst>
              <a:gd name="adj" fmla="val 5000"/>
            </a:avLst>
          </a:prstGeom>
          <a:solidFill>
            <a:schemeClr val="bg2"/>
          </a:solidFill>
          <a:ln w="12700">
            <a:solidFill>
              <a:schemeClr val="bg2"/>
            </a:solidFill>
            <a:prstDash val="solid"/>
          </a:ln>
        </p:spPr>
      </p:sp>
      <p:sp>
        <p:nvSpPr>
          <p:cNvPr id="12" name="Step number 3"/>
          <p:cNvSpPr txBox="1"/>
          <p:nvPr/>
        </p:nvSpPr>
        <p:spPr>
          <a:xfrm>
            <a:off x="3986784" y="1783080"/>
            <a:ext cx="45720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3</a:t>
            </a:r>
            <a:endParaRPr lang="en-US" sz="2600" dirty="0"/>
          </a:p>
        </p:txBody>
      </p:sp>
      <p:sp>
        <p:nvSpPr>
          <p:cNvPr id="13" name="Step title 3"/>
          <p:cNvSpPr txBox="1"/>
          <p:nvPr/>
        </p:nvSpPr>
        <p:spPr>
          <a:xfrm>
            <a:off x="3986784" y="2286000"/>
            <a:ext cx="1143000" cy="320040"/>
          </a:xfrm>
          <a:prstGeom prst="rect">
            <a:avLst/>
          </a:prstGeom>
          <a:noFill/>
          <a:ln/>
        </p:spPr>
        <p:txBody>
          <a:bodyPr wrap="square" lIns="0" tIns="0" rIns="0" bIns="0" rtlCol="0" anchor="ctr"/>
          <a:lstStyle/>
          <a:p>
            <a:pPr indent="0" marL="0">
              <a:buNone/>
            </a:pPr>
            <a:r>
              <a:rPr lang="en-US" sz="1600" b="1" dirty="0">
                <a:solidFill>
                  <a:schemeClr val="tx1"/>
                </a:solidFill>
              </a:rPr>
              <a:t>Discover</a:t>
            </a:r>
            <a:endParaRPr lang="en-US" sz="1600" dirty="0"/>
          </a:p>
        </p:txBody>
      </p:sp>
      <p:sp>
        <p:nvSpPr>
          <p:cNvPr id="14" name="Step body 3"/>
          <p:cNvSpPr txBox="1"/>
          <p:nvPr/>
        </p:nvSpPr>
        <p:spPr>
          <a:xfrm>
            <a:off x="3986784" y="2651760"/>
            <a:ext cx="1143000" cy="777240"/>
          </a:xfrm>
          <a:prstGeom prst="rect">
            <a:avLst/>
          </a:prstGeom>
          <a:noFill/>
          <a:ln/>
        </p:spPr>
        <p:txBody>
          <a:bodyPr wrap="square" lIns="0" tIns="0" rIns="0" bIns="0" rtlCol="0" anchor="t"/>
          <a:lstStyle/>
          <a:p>
            <a:pPr indent="0" marL="0">
              <a:buNone/>
            </a:pPr>
            <a:r>
              <a:rPr lang="en-US" sz="1200" dirty="0">
                <a:solidFill>
                  <a:schemeClr val="tx2"/>
                </a:solidFill>
              </a:rPr>
              <a:t>Google Search finds every match</a:t>
            </a:r>
            <a:endParaRPr lang="en-US" sz="1200" dirty="0"/>
          </a:p>
        </p:txBody>
      </p:sp>
      <p:sp>
        <p:nvSpPr>
          <p:cNvPr id="15" name="Step 4"/>
          <p:cNvSpPr/>
          <p:nvPr/>
        </p:nvSpPr>
        <p:spPr>
          <a:xfrm>
            <a:off x="5431536" y="1600200"/>
            <a:ext cx="1463040" cy="1920240"/>
          </a:xfrm>
          <a:prstGeom prst="roundRect">
            <a:avLst>
              <a:gd name="adj" fmla="val 5000"/>
            </a:avLst>
          </a:prstGeom>
          <a:solidFill>
            <a:schemeClr val="bg2"/>
          </a:solidFill>
          <a:ln w="12700">
            <a:solidFill>
              <a:schemeClr val="bg2"/>
            </a:solidFill>
            <a:prstDash val="solid"/>
          </a:ln>
        </p:spPr>
      </p:sp>
      <p:sp>
        <p:nvSpPr>
          <p:cNvPr id="16" name="Step number 4"/>
          <p:cNvSpPr txBox="1"/>
          <p:nvPr/>
        </p:nvSpPr>
        <p:spPr>
          <a:xfrm>
            <a:off x="5614416" y="1783080"/>
            <a:ext cx="45720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4</a:t>
            </a:r>
            <a:endParaRPr lang="en-US" sz="2600" dirty="0"/>
          </a:p>
        </p:txBody>
      </p:sp>
      <p:sp>
        <p:nvSpPr>
          <p:cNvPr id="17" name="Step title 4"/>
          <p:cNvSpPr txBox="1"/>
          <p:nvPr/>
        </p:nvSpPr>
        <p:spPr>
          <a:xfrm>
            <a:off x="5614416" y="2286000"/>
            <a:ext cx="1143000" cy="320040"/>
          </a:xfrm>
          <a:prstGeom prst="rect">
            <a:avLst/>
          </a:prstGeom>
          <a:noFill/>
          <a:ln/>
        </p:spPr>
        <p:txBody>
          <a:bodyPr wrap="square" lIns="0" tIns="0" rIns="0" bIns="0" rtlCol="0" anchor="ctr"/>
          <a:lstStyle/>
          <a:p>
            <a:pPr indent="0" marL="0">
              <a:buNone/>
            </a:pPr>
            <a:r>
              <a:rPr lang="en-US" sz="1600" b="1" dirty="0">
                <a:solidFill>
                  <a:schemeClr val="tx1"/>
                </a:solidFill>
              </a:rPr>
              <a:t>Track</a:t>
            </a:r>
            <a:endParaRPr lang="en-US" sz="1600" dirty="0"/>
          </a:p>
        </p:txBody>
      </p:sp>
      <p:sp>
        <p:nvSpPr>
          <p:cNvPr id="18" name="Step body 4"/>
          <p:cNvSpPr txBox="1"/>
          <p:nvPr/>
        </p:nvSpPr>
        <p:spPr>
          <a:xfrm>
            <a:off x="5614416" y="2651760"/>
            <a:ext cx="1143000" cy="777240"/>
          </a:xfrm>
          <a:prstGeom prst="rect">
            <a:avLst/>
          </a:prstGeom>
          <a:noFill/>
          <a:ln/>
        </p:spPr>
        <p:txBody>
          <a:bodyPr wrap="square" lIns="0" tIns="0" rIns="0" bIns="0" rtlCol="0" anchor="t"/>
          <a:lstStyle/>
          <a:p>
            <a:pPr indent="0" marL="0">
              <a:buNone/>
            </a:pPr>
            <a:r>
              <a:rPr lang="en-US" sz="1200" dirty="0">
                <a:solidFill>
                  <a:schemeClr val="tx2"/>
                </a:solidFill>
              </a:rPr>
              <a:t>Prices saved daily as history</a:t>
            </a:r>
            <a:endParaRPr lang="en-US" sz="1200" dirty="0"/>
          </a:p>
        </p:txBody>
      </p:sp>
      <p:sp>
        <p:nvSpPr>
          <p:cNvPr id="19" name="Step 5"/>
          <p:cNvSpPr/>
          <p:nvPr/>
        </p:nvSpPr>
        <p:spPr>
          <a:xfrm>
            <a:off x="7059168" y="1600200"/>
            <a:ext cx="1463040" cy="1920240"/>
          </a:xfrm>
          <a:prstGeom prst="roundRect">
            <a:avLst>
              <a:gd name="adj" fmla="val 5000"/>
            </a:avLst>
          </a:prstGeom>
          <a:solidFill>
            <a:schemeClr val="accent1"/>
          </a:solidFill>
          <a:ln w="12700">
            <a:solidFill>
              <a:schemeClr val="accent1"/>
            </a:solidFill>
            <a:prstDash val="solid"/>
          </a:ln>
        </p:spPr>
      </p:sp>
      <p:sp>
        <p:nvSpPr>
          <p:cNvPr id="20" name="Step number 5"/>
          <p:cNvSpPr txBox="1"/>
          <p:nvPr/>
        </p:nvSpPr>
        <p:spPr>
          <a:xfrm>
            <a:off x="7242048" y="1783080"/>
            <a:ext cx="457200" cy="457200"/>
          </a:xfrm>
          <a:prstGeom prst="rect">
            <a:avLst/>
          </a:prstGeom>
          <a:noFill/>
          <a:ln/>
        </p:spPr>
        <p:txBody>
          <a:bodyPr wrap="square" lIns="0" tIns="0" rIns="0" bIns="0" rtlCol="0" anchor="ctr"/>
          <a:lstStyle/>
          <a:p>
            <a:pPr indent="0" marL="0">
              <a:buNone/>
            </a:pPr>
            <a:r>
              <a:rPr lang="en-US" sz="2600" b="1" dirty="0">
                <a:solidFill>
                  <a:schemeClr val="accent5"/>
                </a:solidFill>
                <a:latin typeface="Cambria" pitchFamily="34" charset="0"/>
                <a:ea typeface="Cambria" pitchFamily="34" charset="-122"/>
                <a:cs typeface="Cambria" pitchFamily="34" charset="-120"/>
              </a:rPr>
              <a:t>5</a:t>
            </a:r>
            <a:endParaRPr lang="en-US" sz="2600" dirty="0"/>
          </a:p>
        </p:txBody>
      </p:sp>
      <p:sp>
        <p:nvSpPr>
          <p:cNvPr id="21" name="Step title 5"/>
          <p:cNvSpPr txBox="1"/>
          <p:nvPr/>
        </p:nvSpPr>
        <p:spPr>
          <a:xfrm>
            <a:off x="7242048" y="2286000"/>
            <a:ext cx="1143000" cy="320040"/>
          </a:xfrm>
          <a:prstGeom prst="rect">
            <a:avLst/>
          </a:prstGeom>
          <a:noFill/>
          <a:ln/>
        </p:spPr>
        <p:txBody>
          <a:bodyPr wrap="square" lIns="0" tIns="0" rIns="0" bIns="0" rtlCol="0" anchor="ctr"/>
          <a:lstStyle/>
          <a:p>
            <a:pPr indent="0" marL="0">
              <a:buNone/>
            </a:pPr>
            <a:r>
              <a:rPr lang="en-US" sz="1600" b="1" dirty="0">
                <a:solidFill>
                  <a:schemeClr val="bg1"/>
                </a:solidFill>
              </a:rPr>
              <a:t>Verdict</a:t>
            </a:r>
            <a:endParaRPr lang="en-US" sz="1600" dirty="0"/>
          </a:p>
        </p:txBody>
      </p:sp>
      <p:sp>
        <p:nvSpPr>
          <p:cNvPr id="22" name="Step body 5"/>
          <p:cNvSpPr txBox="1"/>
          <p:nvPr/>
        </p:nvSpPr>
        <p:spPr>
          <a:xfrm>
            <a:off x="7242048" y="2651760"/>
            <a:ext cx="1143000" cy="777240"/>
          </a:xfrm>
          <a:prstGeom prst="rect">
            <a:avLst/>
          </a:prstGeom>
          <a:noFill/>
          <a:ln/>
        </p:spPr>
        <p:txBody>
          <a:bodyPr wrap="square" lIns="0" tIns="0" rIns="0" bIns="0" rtlCol="0" anchor="t"/>
          <a:lstStyle/>
          <a:p>
            <a:pPr indent="0" marL="0">
              <a:buNone/>
            </a:pPr>
            <a:r>
              <a:rPr lang="en-US" sz="1200" dirty="0">
                <a:solidFill>
                  <a:schemeClr val="bg1"/>
                </a:solidFill>
              </a:rPr>
              <a:t>Buy now or wait, with reasons</a:t>
            </a:r>
            <a:endParaRPr lang="en-US" sz="1200" dirty="0"/>
          </a:p>
        </p:txBody>
      </p:sp>
      <p:sp>
        <p:nvSpPr>
          <p:cNvPr id="23" name="Example request"/>
          <p:cNvSpPr/>
          <p:nvPr/>
        </p:nvSpPr>
        <p:spPr>
          <a:xfrm>
            <a:off x="548640" y="3840480"/>
            <a:ext cx="8046720" cy="731520"/>
          </a:xfrm>
          <a:prstGeom prst="roundRect">
            <a:avLst>
              <a:gd name="adj" fmla="val 10000"/>
            </a:avLst>
          </a:prstGeom>
          <a:solidFill>
            <a:schemeClr val="tx1"/>
          </a:solidFill>
          <a:ln w="12700">
            <a:solidFill>
              <a:schemeClr val="tx1"/>
            </a:solidFill>
            <a:prstDash val="solid"/>
          </a:ln>
        </p:spPr>
      </p:sp>
      <p:sp>
        <p:nvSpPr>
          <p:cNvPr id="24" name="Example text"/>
          <p:cNvSpPr txBox="1"/>
          <p:nvPr/>
        </p:nvSpPr>
        <p:spPr>
          <a:xfrm>
            <a:off x="822960" y="3840480"/>
            <a:ext cx="7498080" cy="731520"/>
          </a:xfrm>
          <a:prstGeom prst="rect">
            <a:avLst/>
          </a:prstGeom>
          <a:noFill/>
          <a:ln/>
        </p:spPr>
        <p:txBody>
          <a:bodyPr wrap="square" lIns="0" tIns="0" rIns="0" bIns="0" rtlCol="0" anchor="ctr"/>
          <a:lstStyle/>
          <a:p>
            <a:pPr indent="0" marL="0">
              <a:buNone/>
            </a:pPr>
            <a:r>
              <a:rPr lang="en-US" sz="1600" i="1" dirty="0">
                <a:solidFill>
                  <a:schemeClr val="bg1"/>
                </a:solidFill>
              </a:rPr>
              <a:t>"2-input USB audio interface with phantom power, under ₹15k"</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686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Describe the need, get a verdict on every match</a:t>
            </a:r>
            <a:endParaRPr lang="en-US" sz="3000" dirty="0"/>
          </a:p>
        </p:txBody>
      </p:sp>
      <p:pic>
        <p:nvPicPr>
          <p:cNvPr id="3" name="UI screenshot" descr="/private/tmp/claude-502/-Users-meenu-Downloads-D2/12731e38-32f4-44ab-831f-f37e8cc97cf7/scratchpad/shots/overview.png">    </p:cNvPr>
          <p:cNvPicPr>
            <a:picLocks noChangeAspect="1"/>
          </p:cNvPicPr>
          <p:nvPr/>
        </p:nvPicPr>
        <p:blipFill>
          <a:blip r:embed="rId1"/>
          <a:stretch>
            <a:fillRect/>
          </a:stretch>
        </p:blipFill>
        <p:spPr>
          <a:xfrm>
            <a:off x="548640" y="1325880"/>
            <a:ext cx="4480560" cy="3520440"/>
          </a:xfrm>
          <a:prstGeom prst="rect">
            <a:avLst/>
          </a:prstGeom>
        </p:spPr>
      </p:pic>
      <p:sp>
        <p:nvSpPr>
          <p:cNvPr id="4" name="UI points"/>
          <p:cNvSpPr txBox="1"/>
          <p:nvPr/>
        </p:nvSpPr>
        <p:spPr>
          <a:xfrm>
            <a:off x="5394960" y="1463040"/>
            <a:ext cx="320040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Plain-English request and budget</a:t>
            </a:r>
            <a:endParaRPr lang="en-US" sz="1600" dirty="0"/>
          </a:p>
          <a:p>
            <a:pPr marL="342900" indent="-342900">
              <a:spcAft>
                <a:spcPts val="1000"/>
              </a:spcAft>
              <a:buSzPct val="100000"/>
              <a:buChar char="•"/>
            </a:pPr>
            <a:r>
              <a:rPr lang="en-US" sz="1600" dirty="0">
                <a:solidFill>
                  <a:schemeClr val="tx1"/>
                </a:solidFill>
              </a:rPr>
              <a:t>Gemini builds the watch spec: category, budget, must-haves</a:t>
            </a:r>
            <a:endParaRPr lang="en-US" sz="1600" dirty="0"/>
          </a:p>
          <a:p>
            <a:pPr marL="342900" indent="-342900">
              <a:spcAft>
                <a:spcPts val="1000"/>
              </a:spcAft>
              <a:buSzPct val="100000"/>
              <a:buChar char="•"/>
            </a:pPr>
            <a:r>
              <a:rPr lang="en-US" sz="1600" dirty="0">
                <a:solidFill>
                  <a:schemeClr val="tx1"/>
                </a:solidFill>
              </a:rPr>
              <a:t>Every match gets Buy now or Wait, with reasons</a:t>
            </a:r>
            <a:endParaRPr lang="en-US" sz="1600" dirty="0"/>
          </a:p>
          <a:p>
            <a:pPr marL="342900" indent="-342900">
              <a:spcAft>
                <a:spcPts val="1000"/>
              </a:spcAft>
              <a:buSzPct val="100000"/>
              <a:buChar char="•"/>
            </a:pPr>
            <a:r>
              <a:rPr lang="en-US" sz="1600" dirty="0">
                <a:solidFill>
                  <a:schemeClr val="tx1"/>
                </a:solidFill>
              </a:rPr>
              <a:t>Fake discounts are counted and flagged</a:t>
            </a:r>
            <a:endParaRPr lang="en-US" sz="1600" dirty="0"/>
          </a:p>
        </p:txBody>
      </p:sp>
      <p:sp>
        <p:nvSpPr>
          <p:cNvPr id="5" name="UI caption"/>
          <p:cNvSpPr txBox="1"/>
          <p:nvPr/>
        </p:nvSpPr>
        <p:spPr>
          <a:xfrm>
            <a:off x="5394960" y="4343400"/>
            <a:ext cx="3200400" cy="457200"/>
          </a:xfrm>
          <a:prstGeom prst="rect">
            <a:avLst/>
          </a:prstGeom>
          <a:noFill/>
          <a:ln/>
        </p:spPr>
        <p:txBody>
          <a:bodyPr wrap="square" lIns="0" tIns="0" rIns="0" bIns="0" rtlCol="0" anchor="t"/>
          <a:lstStyle/>
          <a:p>
            <a:pPr indent="0" marL="0">
              <a:buNone/>
            </a:pPr>
            <a:r>
              <a:rPr lang="en-US" sz="1100" i="1" dirty="0">
                <a:solidFill>
                  <a:schemeClr val="accent4"/>
                </a:solidFill>
              </a:rPr>
              <a:t>Screenshot of the working prototype, on test data</a:t>
            </a:r>
            <a:endParaRPr lang="en-US" sz="11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686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Watch the agent work</a:t>
            </a:r>
            <a:endParaRPr lang="en-US" sz="3000" dirty="0"/>
          </a:p>
        </p:txBody>
      </p:sp>
      <p:pic>
        <p:nvPicPr>
          <p:cNvPr id="3" name="Trace screenshot" descr="/private/tmp/claude-502/-Users-meenu-Downloads-D2/12731e38-32f4-44ab-831f-f37e8cc97cf7/scratchpad/shots/trace.png">    </p:cNvPr>
          <p:cNvPicPr>
            <a:picLocks noChangeAspect="1"/>
          </p:cNvPicPr>
          <p:nvPr/>
        </p:nvPicPr>
        <p:blipFill>
          <a:blip r:embed="rId1"/>
          <a:stretch>
            <a:fillRect/>
          </a:stretch>
        </p:blipFill>
        <p:spPr>
          <a:xfrm>
            <a:off x="548640" y="1325880"/>
            <a:ext cx="8046720" cy="3235147"/>
          </a:xfrm>
          <a:prstGeom prst="rect">
            <a:avLst/>
          </a:prstGeom>
        </p:spPr>
      </p:pic>
      <p:sp>
        <p:nvSpPr>
          <p:cNvPr id="4" name="Trace caption"/>
          <p:cNvSpPr txBox="1"/>
          <p:nvPr/>
        </p:nvSpPr>
        <p:spPr>
          <a:xfrm>
            <a:off x="548640" y="4572000"/>
            <a:ext cx="8046720" cy="365760"/>
          </a:xfrm>
          <a:prstGeom prst="rect">
            <a:avLst/>
          </a:prstGeom>
          <a:noFill/>
          <a:ln/>
        </p:spPr>
        <p:txBody>
          <a:bodyPr wrap="square" lIns="0" tIns="0" rIns="0" bIns="0" rtlCol="0" anchor="t"/>
          <a:lstStyle/>
          <a:p>
            <a:pPr indent="0" marL="0">
              <a:buNone/>
            </a:pPr>
            <a:r>
              <a:rPr lang="en-US" sz="1400" dirty="0">
                <a:solidFill>
                  <a:schemeClr val="tx2"/>
                </a:solidFill>
              </a:rPr>
              <a:t>Every line is a real step. It rules out products, checks price history and catches fake discounts as it goes.</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686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A 35% discount on a price that never moved</a:t>
            </a:r>
            <a:endParaRPr lang="en-US" sz="3000" dirty="0"/>
          </a:p>
        </p:txBody>
      </p:sp>
      <p:graphicFrame>
        <p:nvGraphicFramePr>
          <p:cNvPr id="3" name="Chart 0" descr=""/>
          <p:cNvGraphicFramePr/>
          <p:nvPr/>
        </p:nvGraphicFramePr>
        <p:xfrm>
          <a:off x="457200" y="1280160"/>
          <a:ext cx="5394960" cy="3383280"/>
        </p:xfrm>
        <a:graphic xmlns:a="http://schemas.openxmlformats.org/drawingml/2006/main">
          <a:graphicData uri="http://schemas.openxmlformats.org/drawingml/2006/chart">
            <c:chart xmlns:c="http://schemas.openxmlformats.org/drawingml/2006/chart" r:id="rId1"/>
          </a:graphicData>
        </a:graphic>
      </p:graphicFrame>
      <p:sp>
        <p:nvSpPr>
          <p:cNvPr id="4" name="Fact label 1"/>
          <p:cNvSpPr txBox="1"/>
          <p:nvPr/>
        </p:nvSpPr>
        <p:spPr>
          <a:xfrm>
            <a:off x="6217920" y="1463040"/>
            <a:ext cx="2377440" cy="228600"/>
          </a:xfrm>
          <a:prstGeom prst="rect">
            <a:avLst/>
          </a:prstGeom>
          <a:noFill/>
          <a:ln/>
        </p:spPr>
        <p:txBody>
          <a:bodyPr wrap="square" lIns="0" tIns="0" rIns="0" bIns="0" rtlCol="0" anchor="ctr"/>
          <a:lstStyle/>
          <a:p>
            <a:pPr indent="0" marL="0">
              <a:buNone/>
            </a:pPr>
            <a:r>
              <a:rPr lang="en-US" sz="1100" b="1" spc="200" kern="0" dirty="0">
                <a:solidFill>
                  <a:schemeClr val="accent4"/>
                </a:solidFill>
              </a:rPr>
              <a:t>STORE CLAIMS</a:t>
            </a:r>
            <a:endParaRPr lang="en-US" sz="1100" dirty="0"/>
          </a:p>
        </p:txBody>
      </p:sp>
      <p:sp>
        <p:nvSpPr>
          <p:cNvPr id="5" name="Fact value 1"/>
          <p:cNvSpPr txBox="1"/>
          <p:nvPr/>
        </p:nvSpPr>
        <p:spPr>
          <a:xfrm>
            <a:off x="6217920" y="1719072"/>
            <a:ext cx="2377440" cy="640080"/>
          </a:xfrm>
          <a:prstGeom prst="rect">
            <a:avLst/>
          </a:prstGeom>
          <a:noFill/>
          <a:ln/>
        </p:spPr>
        <p:txBody>
          <a:bodyPr wrap="square" lIns="0" tIns="0" rIns="0" bIns="0" rtlCol="0" anchor="t"/>
          <a:lstStyle/>
          <a:p>
            <a:pPr indent="0" marL="0">
              <a:buNone/>
            </a:pPr>
            <a:r>
              <a:rPr lang="en-US" sz="1800" b="1" dirty="0">
                <a:solidFill>
                  <a:schemeClr val="accent3"/>
                </a:solidFill>
                <a:latin typeface="Cambria" pitchFamily="34" charset="0"/>
                <a:ea typeface="Cambria" pitchFamily="34" charset="-122"/>
                <a:cs typeface="Cambria" pitchFamily="34" charset="-120"/>
              </a:rPr>
              <a:t>35% off ₹12,999</a:t>
            </a:r>
            <a:endParaRPr lang="en-US" sz="1800" dirty="0"/>
          </a:p>
        </p:txBody>
      </p:sp>
      <p:sp>
        <p:nvSpPr>
          <p:cNvPr id="6" name="Fact label 2"/>
          <p:cNvSpPr txBox="1"/>
          <p:nvPr/>
        </p:nvSpPr>
        <p:spPr>
          <a:xfrm>
            <a:off x="6217920" y="2514600"/>
            <a:ext cx="2377440" cy="228600"/>
          </a:xfrm>
          <a:prstGeom prst="rect">
            <a:avLst/>
          </a:prstGeom>
          <a:noFill/>
          <a:ln/>
        </p:spPr>
        <p:txBody>
          <a:bodyPr wrap="square" lIns="0" tIns="0" rIns="0" bIns="0" rtlCol="0" anchor="ctr"/>
          <a:lstStyle/>
          <a:p>
            <a:pPr indent="0" marL="0">
              <a:buNone/>
            </a:pPr>
            <a:r>
              <a:rPr lang="en-US" sz="1100" b="1" spc="200" kern="0" dirty="0">
                <a:solidFill>
                  <a:schemeClr val="accent4"/>
                </a:solidFill>
              </a:rPr>
              <a:t>REALITY</a:t>
            </a:r>
            <a:endParaRPr lang="en-US" sz="1100" dirty="0"/>
          </a:p>
        </p:txBody>
      </p:sp>
      <p:sp>
        <p:nvSpPr>
          <p:cNvPr id="7" name="Fact value 2"/>
          <p:cNvSpPr txBox="1"/>
          <p:nvPr/>
        </p:nvSpPr>
        <p:spPr>
          <a:xfrm>
            <a:off x="6217920" y="2770632"/>
            <a:ext cx="2377440" cy="6400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₹8,199 to ₹8,699 for 60 days</a:t>
            </a:r>
            <a:endParaRPr lang="en-US" sz="1800" dirty="0"/>
          </a:p>
        </p:txBody>
      </p:sp>
      <p:sp>
        <p:nvSpPr>
          <p:cNvPr id="8" name="Fact label 3"/>
          <p:cNvSpPr txBox="1"/>
          <p:nvPr/>
        </p:nvSpPr>
        <p:spPr>
          <a:xfrm>
            <a:off x="6217920" y="3566160"/>
            <a:ext cx="2377440" cy="228600"/>
          </a:xfrm>
          <a:prstGeom prst="rect">
            <a:avLst/>
          </a:prstGeom>
          <a:noFill/>
          <a:ln/>
        </p:spPr>
        <p:txBody>
          <a:bodyPr wrap="square" lIns="0" tIns="0" rIns="0" bIns="0" rtlCol="0" anchor="ctr"/>
          <a:lstStyle/>
          <a:p>
            <a:pPr indent="0" marL="0">
              <a:buNone/>
            </a:pPr>
            <a:r>
              <a:rPr lang="en-US" sz="1100" b="1" spc="200" kern="0" dirty="0">
                <a:solidFill>
                  <a:schemeClr val="accent4"/>
                </a:solidFill>
              </a:rPr>
              <a:t>DEALSCOUT SAYS</a:t>
            </a:r>
            <a:endParaRPr lang="en-US" sz="1100" dirty="0"/>
          </a:p>
        </p:txBody>
      </p:sp>
      <p:sp>
        <p:nvSpPr>
          <p:cNvPr id="9" name="Fact value 3"/>
          <p:cNvSpPr txBox="1"/>
          <p:nvPr/>
        </p:nvSpPr>
        <p:spPr>
          <a:xfrm>
            <a:off x="6217920" y="3822192"/>
            <a:ext cx="2377440" cy="64008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Wait. Not a real deal.</a:t>
            </a:r>
            <a:endParaRPr lang="en-US" sz="18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686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It checks the fit, not only the price</a:t>
            </a:r>
            <a:endParaRPr lang="en-US" sz="3000" dirty="0"/>
          </a:p>
        </p:txBody>
      </p:sp>
      <p:pic>
        <p:nvPicPr>
          <p:cNvPr id="3" name="Fit screenshot" descr="/private/tmp/claude-502/-Users-meenu-Downloads-D2/12731e38-32f4-44ab-831f-f37e8cc97cf7/scratchpad/shots/fit.png">    </p:cNvPr>
          <p:cNvPicPr>
            <a:picLocks noChangeAspect="1"/>
          </p:cNvPicPr>
          <p:nvPr/>
        </p:nvPicPr>
        <p:blipFill>
          <a:blip r:embed="rId1"/>
          <a:stretch>
            <a:fillRect/>
          </a:stretch>
        </p:blipFill>
        <p:spPr>
          <a:xfrm>
            <a:off x="548640" y="1325880"/>
            <a:ext cx="8046720" cy="2697480"/>
          </a:xfrm>
          <a:prstGeom prst="rect">
            <a:avLst/>
          </a:prstGeom>
        </p:spPr>
      </p:pic>
      <p:sp>
        <p:nvSpPr>
          <p:cNvPr id="4" name="Fit caption"/>
          <p:cNvSpPr txBox="1"/>
          <p:nvPr/>
        </p:nvSpPr>
        <p:spPr>
          <a:xfrm>
            <a:off x="548640" y="4206240"/>
            <a:ext cx="8046720" cy="548640"/>
          </a:xfrm>
          <a:prstGeom prst="rect">
            <a:avLst/>
          </a:prstGeom>
          <a:noFill/>
          <a:ln/>
        </p:spPr>
        <p:txBody>
          <a:bodyPr wrap="square" lIns="0" tIns="0" rIns="0" bIns="0" rtlCol="0" anchor="t"/>
          <a:lstStyle/>
          <a:p>
            <a:pPr indent="0" marL="0">
              <a:buNone/>
            </a:pPr>
            <a:r>
              <a:rPr lang="en-US" sz="1600" dirty="0">
                <a:solidFill>
                  <a:schemeClr val="tx1"/>
                </a:solidFill>
              </a:rPr>
              <a:t>Asked for 2 inputs, this one has 4. DealScout shows the extra cost against the cheapest model that already covers the need.</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686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Built on Gemini and Google Cloud</a:t>
            </a:r>
            <a:endParaRPr lang="en-US" sz="3000" dirty="0"/>
          </a:p>
        </p:txBody>
      </p:sp>
      <p:sp>
        <p:nvSpPr>
          <p:cNvPr id="3" name="Box Cloud Scheduler"/>
          <p:cNvSpPr/>
          <p:nvPr/>
        </p:nvSpPr>
        <p:spPr>
          <a:xfrm>
            <a:off x="548640" y="1600200"/>
            <a:ext cx="1463040" cy="1828800"/>
          </a:xfrm>
          <a:prstGeom prst="roundRect">
            <a:avLst>
              <a:gd name="adj" fmla="val 5000"/>
            </a:avLst>
          </a:prstGeom>
          <a:solidFill>
            <a:schemeClr val="bg2"/>
          </a:solidFill>
          <a:ln w="12700">
            <a:solidFill>
              <a:schemeClr val="bg2"/>
            </a:solidFill>
            <a:prstDash val="solid"/>
          </a:ln>
        </p:spPr>
      </p:sp>
      <p:sp>
        <p:nvSpPr>
          <p:cNvPr id="4" name="Box title Cloud Scheduler"/>
          <p:cNvSpPr txBox="1"/>
          <p:nvPr/>
        </p:nvSpPr>
        <p:spPr>
          <a:xfrm>
            <a:off x="685800" y="1783080"/>
            <a:ext cx="1188720" cy="320040"/>
          </a:xfrm>
          <a:prstGeom prst="rect">
            <a:avLst/>
          </a:prstGeom>
          <a:noFill/>
          <a:ln/>
        </p:spPr>
        <p:txBody>
          <a:bodyPr wrap="square" lIns="0" tIns="0" rIns="0" bIns="0" rtlCol="0" anchor="ctr"/>
          <a:lstStyle/>
          <a:p>
            <a:pPr indent="0" marL="0">
              <a:buNone/>
            </a:pPr>
            <a:r>
              <a:rPr lang="en-US" sz="1500" b="1" dirty="0">
                <a:solidFill>
                  <a:schemeClr val="tx1"/>
                </a:solidFill>
              </a:rPr>
              <a:t>Cloud Scheduler</a:t>
            </a:r>
            <a:endParaRPr lang="en-US" sz="1500" dirty="0"/>
          </a:p>
        </p:txBody>
      </p:sp>
      <p:sp>
        <p:nvSpPr>
          <p:cNvPr id="5" name="Box body Cloud Scheduler"/>
          <p:cNvSpPr txBox="1"/>
          <p:nvPr/>
        </p:nvSpPr>
        <p:spPr>
          <a:xfrm>
            <a:off x="685800" y="2194560"/>
            <a:ext cx="1188720" cy="777240"/>
          </a:xfrm>
          <a:prstGeom prst="rect">
            <a:avLst/>
          </a:prstGeom>
          <a:noFill/>
          <a:ln/>
        </p:spPr>
        <p:txBody>
          <a:bodyPr wrap="square" lIns="0" tIns="0" rIns="0" bIns="0" rtlCol="0" anchor="t"/>
          <a:lstStyle/>
          <a:p>
            <a:pPr indent="0" marL="0">
              <a:buNone/>
            </a:pPr>
            <a:r>
              <a:rPr lang="en-US" sz="1200" dirty="0">
                <a:solidFill>
                  <a:schemeClr val="tx2"/>
                </a:solidFill>
              </a:rPr>
              <a:t>Triggers the daily run</a:t>
            </a:r>
            <a:endParaRPr lang="en-US" sz="1200" dirty="0"/>
          </a:p>
        </p:txBody>
      </p:sp>
      <p:sp>
        <p:nvSpPr>
          <p:cNvPr id="6" name="Box status Cloud Scheduler"/>
          <p:cNvSpPr txBox="1"/>
          <p:nvPr/>
        </p:nvSpPr>
        <p:spPr>
          <a:xfrm>
            <a:off x="685800" y="3063240"/>
            <a:ext cx="1188720" cy="228600"/>
          </a:xfrm>
          <a:prstGeom prst="rect">
            <a:avLst/>
          </a:prstGeom>
          <a:noFill/>
          <a:ln/>
        </p:spPr>
        <p:txBody>
          <a:bodyPr wrap="square" lIns="0" tIns="0" rIns="0" bIns="0" rtlCol="0" anchor="ctr"/>
          <a:lstStyle/>
          <a:p>
            <a:pPr indent="0" marL="0">
              <a:buNone/>
            </a:pPr>
            <a:r>
              <a:rPr lang="en-US" sz="1100" b="1" spc="200" kern="0" dirty="0">
                <a:solidFill>
                  <a:schemeClr val="accent2"/>
                </a:solidFill>
              </a:rPr>
              <a:t>NEXT</a:t>
            </a:r>
            <a:endParaRPr lang="en-US" sz="1100" dirty="0"/>
          </a:p>
        </p:txBody>
      </p:sp>
      <p:sp>
        <p:nvSpPr>
          <p:cNvPr id="7" name="Arrow 1"/>
          <p:cNvSpPr txBox="1"/>
          <p:nvPr/>
        </p:nvSpPr>
        <p:spPr>
          <a:xfrm>
            <a:off x="2011680" y="2240280"/>
            <a:ext cx="164592" cy="365760"/>
          </a:xfrm>
          <a:prstGeom prst="rect">
            <a:avLst/>
          </a:prstGeom>
          <a:noFill/>
          <a:ln/>
        </p:spPr>
        <p:txBody>
          <a:bodyPr wrap="square" lIns="0" tIns="0" rIns="0" bIns="0" rtlCol="0" anchor="ctr"/>
          <a:lstStyle/>
          <a:p>
            <a:pPr algn="ctr" indent="0" marL="0">
              <a:buNone/>
            </a:pPr>
            <a:r>
              <a:rPr lang="en-US" sz="1800" dirty="0">
                <a:solidFill>
                  <a:schemeClr val="accent4"/>
                </a:solidFill>
              </a:rPr>
              <a:t>→</a:t>
            </a:r>
            <a:endParaRPr lang="en-US" sz="1800" dirty="0"/>
          </a:p>
        </p:txBody>
      </p:sp>
      <p:sp>
        <p:nvSpPr>
          <p:cNvPr id="8" name="Box Cloud Run"/>
          <p:cNvSpPr/>
          <p:nvPr/>
        </p:nvSpPr>
        <p:spPr>
          <a:xfrm>
            <a:off x="2176272" y="1600200"/>
            <a:ext cx="1463040" cy="1828800"/>
          </a:xfrm>
          <a:prstGeom prst="roundRect">
            <a:avLst>
              <a:gd name="adj" fmla="val 5000"/>
            </a:avLst>
          </a:prstGeom>
          <a:solidFill>
            <a:schemeClr val="bg2"/>
          </a:solidFill>
          <a:ln w="12700">
            <a:solidFill>
              <a:schemeClr val="bg2"/>
            </a:solidFill>
            <a:prstDash val="solid"/>
          </a:ln>
        </p:spPr>
      </p:sp>
      <p:sp>
        <p:nvSpPr>
          <p:cNvPr id="9" name="Box title Cloud Run"/>
          <p:cNvSpPr txBox="1"/>
          <p:nvPr/>
        </p:nvSpPr>
        <p:spPr>
          <a:xfrm>
            <a:off x="2313432" y="1783080"/>
            <a:ext cx="1188720" cy="320040"/>
          </a:xfrm>
          <a:prstGeom prst="rect">
            <a:avLst/>
          </a:prstGeom>
          <a:noFill/>
          <a:ln/>
        </p:spPr>
        <p:txBody>
          <a:bodyPr wrap="square" lIns="0" tIns="0" rIns="0" bIns="0" rtlCol="0" anchor="ctr"/>
          <a:lstStyle/>
          <a:p>
            <a:pPr indent="0" marL="0">
              <a:buNone/>
            </a:pPr>
            <a:r>
              <a:rPr lang="en-US" sz="1500" b="1" dirty="0">
                <a:solidFill>
                  <a:schemeClr val="tx1"/>
                </a:solidFill>
              </a:rPr>
              <a:t>Cloud Run</a:t>
            </a:r>
            <a:endParaRPr lang="en-US" sz="1500" dirty="0"/>
          </a:p>
        </p:txBody>
      </p:sp>
      <p:sp>
        <p:nvSpPr>
          <p:cNvPr id="10" name="Box body Cloud Run"/>
          <p:cNvSpPr txBox="1"/>
          <p:nvPr/>
        </p:nvSpPr>
        <p:spPr>
          <a:xfrm>
            <a:off x="2313432" y="2194560"/>
            <a:ext cx="1188720" cy="777240"/>
          </a:xfrm>
          <a:prstGeom prst="rect">
            <a:avLst/>
          </a:prstGeom>
          <a:noFill/>
          <a:ln/>
        </p:spPr>
        <p:txBody>
          <a:bodyPr wrap="square" lIns="0" tIns="0" rIns="0" bIns="0" rtlCol="0" anchor="t"/>
          <a:lstStyle/>
          <a:p>
            <a:pPr indent="0" marL="0">
              <a:buNone/>
            </a:pPr>
            <a:r>
              <a:rPr lang="en-US" sz="1200" dirty="0">
                <a:solidFill>
                  <a:schemeClr val="tx2"/>
                </a:solidFill>
              </a:rPr>
              <a:t>Runs the scout service</a:t>
            </a:r>
            <a:endParaRPr lang="en-US" sz="1200" dirty="0"/>
          </a:p>
        </p:txBody>
      </p:sp>
      <p:sp>
        <p:nvSpPr>
          <p:cNvPr id="11" name="Box status Cloud Run"/>
          <p:cNvSpPr txBox="1"/>
          <p:nvPr/>
        </p:nvSpPr>
        <p:spPr>
          <a:xfrm>
            <a:off x="2313432" y="3063240"/>
            <a:ext cx="1188720" cy="228600"/>
          </a:xfrm>
          <a:prstGeom prst="rect">
            <a:avLst/>
          </a:prstGeom>
          <a:noFill/>
          <a:ln/>
        </p:spPr>
        <p:txBody>
          <a:bodyPr wrap="square" lIns="0" tIns="0" rIns="0" bIns="0" rtlCol="0" anchor="ctr"/>
          <a:lstStyle/>
          <a:p>
            <a:pPr indent="0" marL="0">
              <a:buNone/>
            </a:pPr>
            <a:r>
              <a:rPr lang="en-US" sz="1100" b="1" spc="200" kern="0" dirty="0">
                <a:solidFill>
                  <a:schemeClr val="accent2"/>
                </a:solidFill>
              </a:rPr>
              <a:t>NEXT</a:t>
            </a:r>
            <a:endParaRPr lang="en-US" sz="1100" dirty="0"/>
          </a:p>
        </p:txBody>
      </p:sp>
      <p:sp>
        <p:nvSpPr>
          <p:cNvPr id="12" name="Arrow 2"/>
          <p:cNvSpPr txBox="1"/>
          <p:nvPr/>
        </p:nvSpPr>
        <p:spPr>
          <a:xfrm>
            <a:off x="3639312" y="2240280"/>
            <a:ext cx="164592" cy="365760"/>
          </a:xfrm>
          <a:prstGeom prst="rect">
            <a:avLst/>
          </a:prstGeom>
          <a:noFill/>
          <a:ln/>
        </p:spPr>
        <p:txBody>
          <a:bodyPr wrap="square" lIns="0" tIns="0" rIns="0" bIns="0" rtlCol="0" anchor="ctr"/>
          <a:lstStyle/>
          <a:p>
            <a:pPr algn="ctr" indent="0" marL="0">
              <a:buNone/>
            </a:pPr>
            <a:r>
              <a:rPr lang="en-US" sz="1800" dirty="0">
                <a:solidFill>
                  <a:schemeClr val="accent4"/>
                </a:solidFill>
              </a:rPr>
              <a:t>→</a:t>
            </a:r>
            <a:endParaRPr lang="en-US" sz="1800" dirty="0"/>
          </a:p>
        </p:txBody>
      </p:sp>
      <p:sp>
        <p:nvSpPr>
          <p:cNvPr id="13" name="Box Gemini"/>
          <p:cNvSpPr/>
          <p:nvPr/>
        </p:nvSpPr>
        <p:spPr>
          <a:xfrm>
            <a:off x="3803904" y="1600200"/>
            <a:ext cx="1463040" cy="1828800"/>
          </a:xfrm>
          <a:prstGeom prst="roundRect">
            <a:avLst>
              <a:gd name="adj" fmla="val 5000"/>
            </a:avLst>
          </a:prstGeom>
          <a:solidFill>
            <a:schemeClr val="accent1"/>
          </a:solidFill>
          <a:ln w="12700">
            <a:solidFill>
              <a:schemeClr val="accent1"/>
            </a:solidFill>
            <a:prstDash val="solid"/>
          </a:ln>
        </p:spPr>
      </p:sp>
      <p:sp>
        <p:nvSpPr>
          <p:cNvPr id="14" name="Box title Gemini"/>
          <p:cNvSpPr txBox="1"/>
          <p:nvPr/>
        </p:nvSpPr>
        <p:spPr>
          <a:xfrm>
            <a:off x="3941064" y="1783080"/>
            <a:ext cx="1188720" cy="320040"/>
          </a:xfrm>
          <a:prstGeom prst="rect">
            <a:avLst/>
          </a:prstGeom>
          <a:noFill/>
          <a:ln/>
        </p:spPr>
        <p:txBody>
          <a:bodyPr wrap="square" lIns="0" tIns="0" rIns="0" bIns="0" rtlCol="0" anchor="ctr"/>
          <a:lstStyle/>
          <a:p>
            <a:pPr indent="0" marL="0">
              <a:buNone/>
            </a:pPr>
            <a:r>
              <a:rPr lang="en-US" sz="1500" b="1" dirty="0">
                <a:solidFill>
                  <a:schemeClr val="bg1"/>
                </a:solidFill>
              </a:rPr>
              <a:t>Gemini</a:t>
            </a:r>
            <a:endParaRPr lang="en-US" sz="1500" dirty="0"/>
          </a:p>
        </p:txBody>
      </p:sp>
      <p:sp>
        <p:nvSpPr>
          <p:cNvPr id="15" name="Box body Gemini"/>
          <p:cNvSpPr txBox="1"/>
          <p:nvPr/>
        </p:nvSpPr>
        <p:spPr>
          <a:xfrm>
            <a:off x="3941064" y="2194560"/>
            <a:ext cx="1188720" cy="777240"/>
          </a:xfrm>
          <a:prstGeom prst="rect">
            <a:avLst/>
          </a:prstGeom>
          <a:noFill/>
          <a:ln/>
        </p:spPr>
        <p:txBody>
          <a:bodyPr wrap="square" lIns="0" tIns="0" rIns="0" bIns="0" rtlCol="0" anchor="t"/>
          <a:lstStyle/>
          <a:p>
            <a:pPr indent="0" marL="0">
              <a:buNone/>
            </a:pPr>
            <a:r>
              <a:rPr lang="en-US" sz="1200" dirty="0">
                <a:solidFill>
                  <a:schemeClr val="bg1"/>
                </a:solidFill>
              </a:rPr>
              <a:t>Structured output + Google Search grounding</a:t>
            </a:r>
            <a:endParaRPr lang="en-US" sz="1200" dirty="0"/>
          </a:p>
        </p:txBody>
      </p:sp>
      <p:sp>
        <p:nvSpPr>
          <p:cNvPr id="16" name="Box status Gemini"/>
          <p:cNvSpPr txBox="1"/>
          <p:nvPr/>
        </p:nvSpPr>
        <p:spPr>
          <a:xfrm>
            <a:off x="3941064" y="3063240"/>
            <a:ext cx="1188720" cy="228600"/>
          </a:xfrm>
          <a:prstGeom prst="rect">
            <a:avLst/>
          </a:prstGeom>
          <a:noFill/>
          <a:ln/>
        </p:spPr>
        <p:txBody>
          <a:bodyPr wrap="square" lIns="0" tIns="0" rIns="0" bIns="0" rtlCol="0" anchor="ctr"/>
          <a:lstStyle/>
          <a:p>
            <a:pPr indent="0" marL="0">
              <a:buNone/>
            </a:pPr>
            <a:r>
              <a:rPr lang="en-US" sz="1100" b="1" spc="200" kern="0" dirty="0">
                <a:solidFill>
                  <a:schemeClr val="accent6"/>
                </a:solidFill>
              </a:rPr>
              <a:t>BUILT</a:t>
            </a:r>
            <a:endParaRPr lang="en-US" sz="1100" dirty="0"/>
          </a:p>
        </p:txBody>
      </p:sp>
      <p:sp>
        <p:nvSpPr>
          <p:cNvPr id="17" name="Arrow 3"/>
          <p:cNvSpPr txBox="1"/>
          <p:nvPr/>
        </p:nvSpPr>
        <p:spPr>
          <a:xfrm>
            <a:off x="5266944" y="2240280"/>
            <a:ext cx="164592" cy="365760"/>
          </a:xfrm>
          <a:prstGeom prst="rect">
            <a:avLst/>
          </a:prstGeom>
          <a:noFill/>
          <a:ln/>
        </p:spPr>
        <p:txBody>
          <a:bodyPr wrap="square" lIns="0" tIns="0" rIns="0" bIns="0" rtlCol="0" anchor="ctr"/>
          <a:lstStyle/>
          <a:p>
            <a:pPr algn="ctr" indent="0" marL="0">
              <a:buNone/>
            </a:pPr>
            <a:r>
              <a:rPr lang="en-US" sz="1800" dirty="0">
                <a:solidFill>
                  <a:schemeClr val="accent4"/>
                </a:solidFill>
              </a:rPr>
              <a:t>→</a:t>
            </a:r>
            <a:endParaRPr lang="en-US" sz="1800" dirty="0"/>
          </a:p>
        </p:txBody>
      </p:sp>
      <p:sp>
        <p:nvSpPr>
          <p:cNvPr id="18" name="Box Firestore"/>
          <p:cNvSpPr/>
          <p:nvPr/>
        </p:nvSpPr>
        <p:spPr>
          <a:xfrm>
            <a:off x="5431536" y="1600200"/>
            <a:ext cx="1463040" cy="1828800"/>
          </a:xfrm>
          <a:prstGeom prst="roundRect">
            <a:avLst>
              <a:gd name="adj" fmla="val 5000"/>
            </a:avLst>
          </a:prstGeom>
          <a:solidFill>
            <a:schemeClr val="bg2"/>
          </a:solidFill>
          <a:ln w="12700">
            <a:solidFill>
              <a:schemeClr val="bg2"/>
            </a:solidFill>
            <a:prstDash val="solid"/>
          </a:ln>
        </p:spPr>
      </p:sp>
      <p:sp>
        <p:nvSpPr>
          <p:cNvPr id="19" name="Box title Firestore"/>
          <p:cNvSpPr txBox="1"/>
          <p:nvPr/>
        </p:nvSpPr>
        <p:spPr>
          <a:xfrm>
            <a:off x="5568696" y="1783080"/>
            <a:ext cx="1188720" cy="320040"/>
          </a:xfrm>
          <a:prstGeom prst="rect">
            <a:avLst/>
          </a:prstGeom>
          <a:noFill/>
          <a:ln/>
        </p:spPr>
        <p:txBody>
          <a:bodyPr wrap="square" lIns="0" tIns="0" rIns="0" bIns="0" rtlCol="0" anchor="ctr"/>
          <a:lstStyle/>
          <a:p>
            <a:pPr indent="0" marL="0">
              <a:buNone/>
            </a:pPr>
            <a:r>
              <a:rPr lang="en-US" sz="1500" b="1" dirty="0">
                <a:solidFill>
                  <a:schemeClr val="tx1"/>
                </a:solidFill>
              </a:rPr>
              <a:t>Firestore</a:t>
            </a:r>
            <a:endParaRPr lang="en-US" sz="1500" dirty="0"/>
          </a:p>
        </p:txBody>
      </p:sp>
      <p:sp>
        <p:nvSpPr>
          <p:cNvPr id="20" name="Box body Firestore"/>
          <p:cNvSpPr txBox="1"/>
          <p:nvPr/>
        </p:nvSpPr>
        <p:spPr>
          <a:xfrm>
            <a:off x="5568696" y="2194560"/>
            <a:ext cx="1188720" cy="777240"/>
          </a:xfrm>
          <a:prstGeom prst="rect">
            <a:avLst/>
          </a:prstGeom>
          <a:noFill/>
          <a:ln/>
        </p:spPr>
        <p:txBody>
          <a:bodyPr wrap="square" lIns="0" tIns="0" rIns="0" bIns="0" rtlCol="0" anchor="t"/>
          <a:lstStyle/>
          <a:p>
            <a:pPr indent="0" marL="0">
              <a:buNone/>
            </a:pPr>
            <a:r>
              <a:rPr lang="en-US" sz="1200" dirty="0">
                <a:solidFill>
                  <a:schemeClr val="tx2"/>
                </a:solidFill>
              </a:rPr>
              <a:t>Daily price history</a:t>
            </a:r>
            <a:endParaRPr lang="en-US" sz="1200" dirty="0"/>
          </a:p>
        </p:txBody>
      </p:sp>
      <p:sp>
        <p:nvSpPr>
          <p:cNvPr id="21" name="Box status Firestore"/>
          <p:cNvSpPr txBox="1"/>
          <p:nvPr/>
        </p:nvSpPr>
        <p:spPr>
          <a:xfrm>
            <a:off x="5568696" y="3063240"/>
            <a:ext cx="1188720" cy="228600"/>
          </a:xfrm>
          <a:prstGeom prst="rect">
            <a:avLst/>
          </a:prstGeom>
          <a:noFill/>
          <a:ln/>
        </p:spPr>
        <p:txBody>
          <a:bodyPr wrap="square" lIns="0" tIns="0" rIns="0" bIns="0" rtlCol="0" anchor="ctr"/>
          <a:lstStyle/>
          <a:p>
            <a:pPr indent="0" marL="0">
              <a:buNone/>
            </a:pPr>
            <a:r>
              <a:rPr lang="en-US" sz="1100" b="1" spc="200" kern="0" dirty="0">
                <a:solidFill>
                  <a:schemeClr val="accent2"/>
                </a:solidFill>
              </a:rPr>
              <a:t>NEXT</a:t>
            </a:r>
            <a:endParaRPr lang="en-US" sz="1100" dirty="0"/>
          </a:p>
        </p:txBody>
      </p:sp>
      <p:sp>
        <p:nvSpPr>
          <p:cNvPr id="22" name="Arrow 4"/>
          <p:cNvSpPr txBox="1"/>
          <p:nvPr/>
        </p:nvSpPr>
        <p:spPr>
          <a:xfrm>
            <a:off x="6894576" y="2240280"/>
            <a:ext cx="164592" cy="365760"/>
          </a:xfrm>
          <a:prstGeom prst="rect">
            <a:avLst/>
          </a:prstGeom>
          <a:noFill/>
          <a:ln/>
        </p:spPr>
        <p:txBody>
          <a:bodyPr wrap="square" lIns="0" tIns="0" rIns="0" bIns="0" rtlCol="0" anchor="ctr"/>
          <a:lstStyle/>
          <a:p>
            <a:pPr algn="ctr" indent="0" marL="0">
              <a:buNone/>
            </a:pPr>
            <a:r>
              <a:rPr lang="en-US" sz="1800" dirty="0">
                <a:solidFill>
                  <a:schemeClr val="accent4"/>
                </a:solidFill>
              </a:rPr>
              <a:t>→</a:t>
            </a:r>
            <a:endParaRPr lang="en-US" sz="1800" dirty="0"/>
          </a:p>
        </p:txBody>
      </p:sp>
      <p:sp>
        <p:nvSpPr>
          <p:cNvPr id="23" name="Box Email"/>
          <p:cNvSpPr/>
          <p:nvPr/>
        </p:nvSpPr>
        <p:spPr>
          <a:xfrm>
            <a:off x="7059168" y="1600200"/>
            <a:ext cx="1463040" cy="1828800"/>
          </a:xfrm>
          <a:prstGeom prst="roundRect">
            <a:avLst>
              <a:gd name="adj" fmla="val 5000"/>
            </a:avLst>
          </a:prstGeom>
          <a:solidFill>
            <a:schemeClr val="bg2"/>
          </a:solidFill>
          <a:ln w="12700">
            <a:solidFill>
              <a:schemeClr val="bg2"/>
            </a:solidFill>
            <a:prstDash val="solid"/>
          </a:ln>
        </p:spPr>
      </p:sp>
      <p:sp>
        <p:nvSpPr>
          <p:cNvPr id="24" name="Box title Email"/>
          <p:cNvSpPr txBox="1"/>
          <p:nvPr/>
        </p:nvSpPr>
        <p:spPr>
          <a:xfrm>
            <a:off x="7196328" y="1783080"/>
            <a:ext cx="1188720" cy="320040"/>
          </a:xfrm>
          <a:prstGeom prst="rect">
            <a:avLst/>
          </a:prstGeom>
          <a:noFill/>
          <a:ln/>
        </p:spPr>
        <p:txBody>
          <a:bodyPr wrap="square" lIns="0" tIns="0" rIns="0" bIns="0" rtlCol="0" anchor="ctr"/>
          <a:lstStyle/>
          <a:p>
            <a:pPr indent="0" marL="0">
              <a:buNone/>
            </a:pPr>
            <a:r>
              <a:rPr lang="en-US" sz="1500" b="1" dirty="0">
                <a:solidFill>
                  <a:schemeClr val="tx1"/>
                </a:solidFill>
              </a:rPr>
              <a:t>Email</a:t>
            </a:r>
            <a:endParaRPr lang="en-US" sz="1500" dirty="0"/>
          </a:p>
        </p:txBody>
      </p:sp>
      <p:sp>
        <p:nvSpPr>
          <p:cNvPr id="25" name="Box body Email"/>
          <p:cNvSpPr txBox="1"/>
          <p:nvPr/>
        </p:nvSpPr>
        <p:spPr>
          <a:xfrm>
            <a:off x="7196328" y="2194560"/>
            <a:ext cx="1188720" cy="777240"/>
          </a:xfrm>
          <a:prstGeom prst="rect">
            <a:avLst/>
          </a:prstGeom>
          <a:noFill/>
          <a:ln/>
        </p:spPr>
        <p:txBody>
          <a:bodyPr wrap="square" lIns="0" tIns="0" rIns="0" bIns="0" rtlCol="0" anchor="t"/>
          <a:lstStyle/>
          <a:p>
            <a:pPr indent="0" marL="0">
              <a:buNone/>
            </a:pPr>
            <a:r>
              <a:rPr lang="en-US" sz="1200" dirty="0">
                <a:solidFill>
                  <a:schemeClr val="tx2"/>
                </a:solidFill>
              </a:rPr>
              <a:t>Firebase email digest</a:t>
            </a:r>
            <a:endParaRPr lang="en-US" sz="1200" dirty="0"/>
          </a:p>
        </p:txBody>
      </p:sp>
      <p:sp>
        <p:nvSpPr>
          <p:cNvPr id="26" name="Box status Email"/>
          <p:cNvSpPr txBox="1"/>
          <p:nvPr/>
        </p:nvSpPr>
        <p:spPr>
          <a:xfrm>
            <a:off x="7196328" y="3063240"/>
            <a:ext cx="1188720" cy="228600"/>
          </a:xfrm>
          <a:prstGeom prst="rect">
            <a:avLst/>
          </a:prstGeom>
          <a:noFill/>
          <a:ln/>
        </p:spPr>
        <p:txBody>
          <a:bodyPr wrap="square" lIns="0" tIns="0" rIns="0" bIns="0" rtlCol="0" anchor="ctr"/>
          <a:lstStyle/>
          <a:p>
            <a:pPr indent="0" marL="0">
              <a:buNone/>
            </a:pPr>
            <a:r>
              <a:rPr lang="en-US" sz="1100" b="1" spc="200" kern="0" dirty="0">
                <a:solidFill>
                  <a:schemeClr val="accent2"/>
                </a:solidFill>
              </a:rPr>
              <a:t>NEXT</a:t>
            </a:r>
            <a:endParaRPr lang="en-US" sz="1100" dirty="0"/>
          </a:p>
        </p:txBody>
      </p:sp>
      <p:sp>
        <p:nvSpPr>
          <p:cNvPr id="27" name="Interface note"/>
          <p:cNvSpPr txBox="1"/>
          <p:nvPr/>
        </p:nvSpPr>
        <p:spPr>
          <a:xfrm>
            <a:off x="548640" y="3794760"/>
            <a:ext cx="8046720" cy="365760"/>
          </a:xfrm>
          <a:prstGeom prst="rect">
            <a:avLst/>
          </a:prstGeom>
          <a:noFill/>
          <a:ln/>
        </p:spPr>
        <p:txBody>
          <a:bodyPr wrap="square" lIns="0" tIns="0" rIns="0" bIns="0" rtlCol="0" anchor="ctr"/>
          <a:lstStyle/>
          <a:p>
            <a:pPr indent="0" marL="0">
              <a:buNone/>
            </a:pPr>
            <a:r>
              <a:rPr lang="en-US" sz="1600" b="1" dirty="0">
                <a:solidFill>
                  <a:schemeClr val="tx1"/>
                </a:solidFill>
              </a:rPr>
              <a:t>One PriceSource interface: Google Search today, retailer APIs as we scale.</a:t>
            </a:r>
            <a:endParaRPr lang="en-US" sz="1600" dirty="0"/>
          </a:p>
        </p:txBody>
      </p:sp>
      <p:sp>
        <p:nvSpPr>
          <p:cNvPr id="28" name="Prototype note"/>
          <p:cNvSpPr txBox="1"/>
          <p:nvPr/>
        </p:nvSpPr>
        <p:spPr>
          <a:xfrm>
            <a:off x="548640" y="4206240"/>
            <a:ext cx="8046720" cy="320040"/>
          </a:xfrm>
          <a:prstGeom prst="rect">
            <a:avLst/>
          </a:prstGeom>
          <a:noFill/>
          <a:ln/>
        </p:spPr>
        <p:txBody>
          <a:bodyPr wrap="square" lIns="0" tIns="0" rIns="0" bIns="0" rtlCol="0" anchor="ctr"/>
          <a:lstStyle/>
          <a:p>
            <a:pPr indent="0" marL="0">
              <a:buNone/>
            </a:pPr>
            <a:r>
              <a:rPr lang="en-US" sz="1300" dirty="0">
                <a:solidFill>
                  <a:schemeClr val="accent4"/>
                </a:solidFill>
              </a:rPr>
              <a:t>In the prototype, prices are saved to a local file and the digest is written as HTML.</a:t>
            </a:r>
            <a:endParaRPr lang="en-US" sz="13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686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Working today, and what comes next</a:t>
            </a:r>
            <a:endParaRPr lang="en-US" sz="3000" dirty="0"/>
          </a:p>
        </p:txBody>
      </p:sp>
      <p:sp>
        <p:nvSpPr>
          <p:cNvPr id="3" name="Today card"/>
          <p:cNvSpPr/>
          <p:nvPr/>
        </p:nvSpPr>
        <p:spPr>
          <a:xfrm>
            <a:off x="548640" y="1371600"/>
            <a:ext cx="3931920" cy="3108960"/>
          </a:xfrm>
          <a:prstGeom prst="roundRect">
            <a:avLst>
              <a:gd name="adj" fmla="val 2353"/>
            </a:avLst>
          </a:prstGeom>
          <a:solidFill>
            <a:schemeClr val="bg2"/>
          </a:solidFill>
          <a:ln w="12700">
            <a:solidFill>
              <a:schemeClr val="bg2"/>
            </a:solidFill>
            <a:prstDash val="solid"/>
          </a:ln>
        </p:spPr>
      </p:sp>
      <p:sp>
        <p:nvSpPr>
          <p:cNvPr id="4" name="Today heading"/>
          <p:cNvSpPr txBox="1"/>
          <p:nvPr/>
        </p:nvSpPr>
        <p:spPr>
          <a:xfrm>
            <a:off x="822960" y="1554480"/>
            <a:ext cx="338328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WORKING TODAY</a:t>
            </a:r>
            <a:endParaRPr lang="en-US" sz="1200" dirty="0"/>
          </a:p>
        </p:txBody>
      </p:sp>
      <p:sp>
        <p:nvSpPr>
          <p:cNvPr id="5" name="Today list"/>
          <p:cNvSpPr txBox="1"/>
          <p:nvPr/>
        </p:nvSpPr>
        <p:spPr>
          <a:xfrm>
            <a:off x="822960" y="1920240"/>
            <a:ext cx="338328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Fake-discount and verdict logic, 15 tests</a:t>
            </a:r>
            <a:endParaRPr lang="en-US" sz="1400" dirty="0"/>
          </a:p>
          <a:p>
            <a:pPr marL="342900" indent="-342900">
              <a:spcAft>
                <a:spcPts val="800"/>
              </a:spcAft>
              <a:buSzPct val="100000"/>
              <a:buChar char="•"/>
            </a:pPr>
            <a:r>
              <a:rPr lang="en-US" sz="1400" dirty="0">
                <a:solidFill>
                  <a:schemeClr val="tx1"/>
                </a:solidFill>
              </a:rPr>
              <a:t>Gemini watch spec from plain English</a:t>
            </a:r>
            <a:endParaRPr lang="en-US" sz="1400" dirty="0"/>
          </a:p>
          <a:p>
            <a:pPr marL="342900" indent="-342900">
              <a:spcAft>
                <a:spcPts val="800"/>
              </a:spcAft>
              <a:buSzPct val="100000"/>
              <a:buChar char="•"/>
            </a:pPr>
            <a:r>
              <a:rPr lang="en-US" sz="1400" dirty="0">
                <a:solidFill>
                  <a:schemeClr val="tx1"/>
                </a:solidFill>
              </a:rPr>
              <a:t>Live agent trace and need-aware fit check</a:t>
            </a:r>
            <a:endParaRPr lang="en-US" sz="1400" dirty="0"/>
          </a:p>
          <a:p>
            <a:pPr marL="342900" indent="-342900">
              <a:spcAft>
                <a:spcPts val="800"/>
              </a:spcAft>
              <a:buSzPct val="100000"/>
              <a:buChar char="•"/>
            </a:pPr>
            <a:r>
              <a:rPr lang="en-US" sz="1400" dirty="0">
                <a:solidFill>
                  <a:schemeClr val="tx1"/>
                </a:solidFill>
              </a:rPr>
              <a:t>Google Search discovery (not yet run live)</a:t>
            </a:r>
            <a:endParaRPr lang="en-US" sz="1400" dirty="0"/>
          </a:p>
          <a:p>
            <a:pPr marL="342900" indent="-342900">
              <a:spcAft>
                <a:spcPts val="800"/>
              </a:spcAft>
              <a:buSzPct val="100000"/>
              <a:buChar char="•"/>
            </a:pPr>
            <a:r>
              <a:rPr lang="en-US" sz="1400" dirty="0">
                <a:solidFill>
                  <a:schemeClr val="tx1"/>
                </a:solidFill>
              </a:rPr>
              <a:t>Web UI, plus digest as text and HTML</a:t>
            </a:r>
            <a:endParaRPr lang="en-US" sz="1400" dirty="0"/>
          </a:p>
        </p:txBody>
      </p:sp>
      <p:sp>
        <p:nvSpPr>
          <p:cNvPr id="6" name="Test data note"/>
          <p:cNvSpPr txBox="1"/>
          <p:nvPr/>
        </p:nvSpPr>
        <p:spPr>
          <a:xfrm>
            <a:off x="822960" y="4023360"/>
            <a:ext cx="3383280" cy="320040"/>
          </a:xfrm>
          <a:prstGeom prst="rect">
            <a:avLst/>
          </a:prstGeom>
          <a:noFill/>
          <a:ln/>
        </p:spPr>
        <p:txBody>
          <a:bodyPr wrap="square" lIns="0" tIns="0" rIns="0" bIns="0" rtlCol="0" anchor="ctr"/>
          <a:lstStyle/>
          <a:p>
            <a:pPr indent="0" marL="0">
              <a:buNone/>
            </a:pPr>
            <a:r>
              <a:rPr lang="en-US" sz="1200" i="1" dirty="0">
                <a:solidFill>
                  <a:schemeClr val="accent4"/>
                </a:solidFill>
              </a:rPr>
              <a:t>Demo products and history are test data.</a:t>
            </a:r>
            <a:endParaRPr lang="en-US" sz="1200" dirty="0"/>
          </a:p>
        </p:txBody>
      </p:sp>
      <p:sp>
        <p:nvSpPr>
          <p:cNvPr id="7" name="Next card"/>
          <p:cNvSpPr/>
          <p:nvPr/>
        </p:nvSpPr>
        <p:spPr>
          <a:xfrm>
            <a:off x="4663440" y="1371600"/>
            <a:ext cx="3931920" cy="3108960"/>
          </a:xfrm>
          <a:prstGeom prst="roundRect">
            <a:avLst>
              <a:gd name="adj" fmla="val 2353"/>
            </a:avLst>
          </a:prstGeom>
          <a:solidFill>
            <a:schemeClr val="tx1"/>
          </a:solidFill>
          <a:ln w="12700">
            <a:solidFill>
              <a:schemeClr val="tx1"/>
            </a:solidFill>
            <a:prstDash val="solid"/>
          </a:ln>
        </p:spPr>
      </p:sp>
      <p:sp>
        <p:nvSpPr>
          <p:cNvPr id="8" name="Next heading"/>
          <p:cNvSpPr txBox="1"/>
          <p:nvPr/>
        </p:nvSpPr>
        <p:spPr>
          <a:xfrm>
            <a:off x="4937760" y="1554480"/>
            <a:ext cx="338328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NEXT</a:t>
            </a:r>
            <a:endParaRPr lang="en-US" sz="1200" dirty="0"/>
          </a:p>
        </p:txBody>
      </p:sp>
      <p:sp>
        <p:nvSpPr>
          <p:cNvPr id="9" name="Next list"/>
          <p:cNvSpPr txBox="1"/>
          <p:nvPr/>
        </p:nvSpPr>
        <p:spPr>
          <a:xfrm>
            <a:off x="4937760" y="1920240"/>
            <a:ext cx="338328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Deploy on Cloud Run with a daily Scheduler job</a:t>
            </a:r>
            <a:endParaRPr lang="en-US" sz="1400" dirty="0"/>
          </a:p>
          <a:p>
            <a:pPr marL="342900" indent="-342900">
              <a:spcAft>
                <a:spcPts val="800"/>
              </a:spcAft>
              <a:buSzPct val="100000"/>
              <a:buChar char="•"/>
            </a:pPr>
            <a:r>
              <a:rPr lang="en-US" sz="1400" dirty="0">
                <a:solidFill>
                  <a:schemeClr val="bg1"/>
                </a:solidFill>
              </a:rPr>
              <a:t>Store real price history in Firestore</a:t>
            </a:r>
            <a:endParaRPr lang="en-US" sz="1400" dirty="0"/>
          </a:p>
          <a:p>
            <a:pPr marL="342900" indent="-342900">
              <a:spcAft>
                <a:spcPts val="800"/>
              </a:spcAft>
              <a:buSzPct val="100000"/>
              <a:buChar char="•"/>
            </a:pPr>
            <a:r>
              <a:rPr lang="en-US" sz="1400" dirty="0">
                <a:solidFill>
                  <a:schemeClr val="bg1"/>
                </a:solidFill>
              </a:rPr>
              <a:t>Send the digest by email</a:t>
            </a:r>
            <a:endParaRPr lang="en-US" sz="1400" dirty="0"/>
          </a:p>
          <a:p>
            <a:pPr marL="342900" indent="-342900">
              <a:spcAft>
                <a:spcPts val="800"/>
              </a:spcAft>
              <a:buSzPct val="100000"/>
              <a:buChar char="•"/>
            </a:pPr>
            <a:r>
              <a:rPr lang="en-US" sz="1400" dirty="0">
                <a:solidFill>
                  <a:schemeClr val="bg1"/>
                </a:solidFill>
              </a:rPr>
              <a:t>Retailer APIs, more categories</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losing line 1"/>
          <p:cNvSpPr txBox="1"/>
          <p:nvPr/>
        </p:nvSpPr>
        <p:spPr>
          <a:xfrm>
            <a:off x="640080" y="1371600"/>
            <a:ext cx="7863840" cy="822960"/>
          </a:xfrm>
          <a:prstGeom prst="rect">
            <a:avLst/>
          </a:prstGeom>
          <a:noFill/>
          <a:ln/>
        </p:spPr>
        <p:txBody>
          <a:bodyPr wrap="square" lIns="0" tIns="0" rIns="0" bIns="0" rtlCol="0" anchor="ctr"/>
          <a:lstStyle/>
          <a:p>
            <a:pPr indent="0" marL="0">
              <a:buNone/>
            </a:pPr>
            <a:r>
              <a:rPr lang="en-US" sz="4000" dirty="0">
                <a:solidFill>
                  <a:schemeClr val="accent5"/>
                </a:solidFill>
                <a:latin typeface="Cambria" pitchFamily="34" charset="0"/>
                <a:ea typeface="Cambria" pitchFamily="34" charset="-122"/>
                <a:cs typeface="Cambria" pitchFamily="34" charset="-120"/>
              </a:rPr>
              <a:t>Trackers watch products.</a:t>
            </a:r>
            <a:endParaRPr lang="en-US" sz="4000" dirty="0"/>
          </a:p>
        </p:txBody>
      </p:sp>
      <p:sp>
        <p:nvSpPr>
          <p:cNvPr id="3" name="Closing line 2"/>
          <p:cNvSpPr txBox="1"/>
          <p:nvPr/>
        </p:nvSpPr>
        <p:spPr>
          <a:xfrm>
            <a:off x="640080" y="2194560"/>
            <a:ext cx="7863840" cy="82296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DealScout watches your need.</a:t>
            </a:r>
            <a:endParaRPr lang="en-US" sz="4000" dirty="0"/>
          </a:p>
        </p:txBody>
      </p:sp>
      <p:sp>
        <p:nvSpPr>
          <p:cNvPr id="4" name="Closing body"/>
          <p:cNvSpPr txBox="1"/>
          <p:nvPr/>
        </p:nvSpPr>
        <p:spPr>
          <a:xfrm>
            <a:off x="640080" y="3291840"/>
            <a:ext cx="7315200" cy="457200"/>
          </a:xfrm>
          <a:prstGeom prst="rect">
            <a:avLst/>
          </a:prstGeom>
          <a:noFill/>
          <a:ln/>
        </p:spPr>
        <p:txBody>
          <a:bodyPr wrap="square" lIns="0" tIns="0" rIns="0" bIns="0" rtlCol="0" anchor="ctr"/>
          <a:lstStyle/>
          <a:p>
            <a:pPr indent="0" marL="0">
              <a:buNone/>
            </a:pPr>
            <a:r>
              <a:rPr lang="en-US" sz="1600" dirty="0">
                <a:solidFill>
                  <a:schemeClr val="bg2"/>
                </a:solidFill>
              </a:rPr>
              <a:t>Find the options you didn't know existed. Know whether the deal is real.</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DealScout">
  <a:themeElements>
    <a:clrScheme name="DealScout">
      <a:dk1>
        <a:srgbClr val="14201C"/>
      </a:dk1>
      <a:lt1>
        <a:srgbClr val="FFFFFF"/>
      </a:lt1>
      <a:dk2>
        <a:srgbClr val="2E3B35"/>
      </a:dk2>
      <a:lt2>
        <a:srgbClr val="EAF3EE"/>
      </a:lt2>
      <a:accent1>
        <a:srgbClr val="0F7B4F"/>
      </a:accent1>
      <a:accent2>
        <a:srgbClr val="C47F00"/>
      </a:accent2>
      <a:accent3>
        <a:srgbClr val="B3261E"/>
      </a:accent3>
      <a:accent4>
        <a:srgbClr val="5B6760"/>
      </a:accent4>
      <a:accent5>
        <a:srgbClr val="7FC4A2"/>
      </a:accent5>
      <a:accent6>
        <a:srgbClr val="F6C453"/>
      </a:accent6>
      <a:hlink>
        <a:srgbClr val="0F7B4F"/>
      </a:hlink>
      <a:folHlink>
        <a:srgbClr val="5B6760"/>
      </a:folHlink>
    </a:clrScheme>
    <a:fontScheme name="DealScou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DealScout</dc:title>
  <dc:subject>PptxGenJS Presentation</dc:subject>
  <dc:creator>PptxGenJS</dc:creator>
  <cp:lastModifiedBy>PptxGenJS</cp:lastModifiedBy>
  <cp:revision>1</cp:revision>
  <dcterms:created xsi:type="dcterms:W3CDTF">2026-10-13T13:57:40Z</dcterms:created>
  <dcterms:modified xsi:type="dcterms:W3CDTF">2026-10-13T13:57:40Z</dcterms:modified>
</cp:coreProperties>
</file>