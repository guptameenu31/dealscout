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price</c:v>
                </c:pt>
              </c:strCache>
            </c:strRef>
          </c:tx>
          <c:spPr>
            <a:solidFill>
              <a:srgbClr val="0F7B4F"/>
            </a:solidFill>
            <a:ln w="38100" cap="flat">
              <a:solidFill>
                <a:srgbClr val="0F7B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B4F"/>
              </a:solidFill>
              <a:ln w="9525" cap="flat">
                <a:solidFill>
                  <a:srgbClr val="0F7B4F"/>
                </a:solidFill>
                <a:prstDash val="solid"/>
                <a:round/>
              </a:ln>
              <a:effectLst/>
            </c:spPr>
          </c:marker>
          <c:cat>
            <c:multiLvlStrRef>
              <c:f>Sheet1!$A$2:$A$61</c:f>
              <c:multiLvlStrCache>
                <c:ptCount val="60"/>
                <c:lvl>
                  <c:pt idx="0">
                    <c:v>60</c:v>
                  </c:pt>
                  <c:pt idx="1">
                    <c:v>59</c:v>
                  </c:pt>
                  <c:pt idx="2">
                    <c:v>58</c:v>
                  </c:pt>
                  <c:pt idx="3">
                    <c:v>57</c:v>
                  </c:pt>
                  <c:pt idx="4">
                    <c:v>56</c:v>
                  </c:pt>
                  <c:pt idx="5">
                    <c:v>55</c:v>
                  </c:pt>
                  <c:pt idx="6">
                    <c:v>54</c:v>
                  </c:pt>
                  <c:pt idx="7">
                    <c:v>53</c:v>
                  </c:pt>
                  <c:pt idx="8">
                    <c:v>52</c:v>
                  </c:pt>
                  <c:pt idx="9">
                    <c:v>51</c:v>
                  </c:pt>
                  <c:pt idx="10">
                    <c:v>50</c:v>
                  </c:pt>
                  <c:pt idx="11">
                    <c:v>49</c:v>
                  </c:pt>
                  <c:pt idx="12">
                    <c:v>48</c:v>
                  </c:pt>
                  <c:pt idx="13">
                    <c:v>47</c:v>
                  </c:pt>
                  <c:pt idx="14">
                    <c:v>46</c:v>
                  </c:pt>
                  <c:pt idx="15">
                    <c:v>45</c:v>
                  </c:pt>
                  <c:pt idx="16">
                    <c:v>44</c:v>
                  </c:pt>
                  <c:pt idx="17">
                    <c:v>43</c:v>
                  </c:pt>
                  <c:pt idx="18">
                    <c:v>42</c:v>
                  </c:pt>
                  <c:pt idx="19">
                    <c:v>41</c:v>
                  </c:pt>
                  <c:pt idx="20">
                    <c:v>40</c:v>
                  </c:pt>
                  <c:pt idx="21">
                    <c:v>39</c:v>
                  </c:pt>
                  <c:pt idx="22">
                    <c:v>38</c:v>
                  </c:pt>
                  <c:pt idx="23">
                    <c:v>37</c:v>
                  </c:pt>
                  <c:pt idx="24">
                    <c:v>36</c:v>
                  </c:pt>
                  <c:pt idx="25">
                    <c:v>35</c:v>
                  </c:pt>
                  <c:pt idx="26">
                    <c:v>34</c:v>
                  </c:pt>
                  <c:pt idx="27">
                    <c:v>33</c:v>
                  </c:pt>
                  <c:pt idx="28">
                    <c:v>32</c:v>
                  </c:pt>
                  <c:pt idx="29">
                    <c:v>31</c:v>
                  </c:pt>
                  <c:pt idx="30">
                    <c:v>30</c:v>
                  </c:pt>
                  <c:pt idx="31">
                    <c:v>29</c:v>
                  </c:pt>
                  <c:pt idx="32">
                    <c:v>28</c:v>
                  </c:pt>
                  <c:pt idx="33">
                    <c:v>27</c:v>
                  </c:pt>
                  <c:pt idx="34">
                    <c:v>26</c:v>
                  </c:pt>
                  <c:pt idx="35">
                    <c:v>25</c:v>
                  </c:pt>
                  <c:pt idx="36">
                    <c:v>24</c:v>
                  </c:pt>
                  <c:pt idx="37">
                    <c:v>23</c:v>
                  </c:pt>
                  <c:pt idx="38">
                    <c:v>22</c:v>
                  </c:pt>
                  <c:pt idx="39">
                    <c:v>21</c:v>
                  </c:pt>
                  <c:pt idx="40">
                    <c:v>20</c:v>
                  </c:pt>
                  <c:pt idx="41">
                    <c:v>19</c:v>
                  </c:pt>
                  <c:pt idx="42">
                    <c:v>18</c:v>
                  </c:pt>
                  <c:pt idx="43">
                    <c:v>17</c:v>
                  </c:pt>
                  <c:pt idx="44">
                    <c:v>16</c:v>
                  </c:pt>
                  <c:pt idx="45">
                    <c:v>15</c:v>
                  </c:pt>
                  <c:pt idx="46">
                    <c:v>14</c:v>
                  </c:pt>
                  <c:pt idx="47">
                    <c:v>13</c:v>
                  </c:pt>
                  <c:pt idx="48">
                    <c:v>12</c:v>
                  </c:pt>
                  <c:pt idx="49">
                    <c:v>11</c:v>
                  </c:pt>
                  <c:pt idx="50">
                    <c:v>10</c:v>
                  </c:pt>
                  <c:pt idx="51">
                    <c:v>9</c:v>
                  </c:pt>
                  <c:pt idx="52">
                    <c:v>8</c:v>
                  </c:pt>
                  <c:pt idx="53">
                    <c:v>7</c:v>
                  </c:pt>
                  <c:pt idx="54">
                    <c:v>6</c:v>
                  </c:pt>
                  <c:pt idx="55">
                    <c:v>5</c:v>
                  </c:pt>
                  <c:pt idx="56">
                    <c:v>4</c:v>
                  </c:pt>
                  <c:pt idx="57">
                    <c:v>3</c:v>
                  </c:pt>
                  <c:pt idx="58">
                    <c:v>2</c:v>
                  </c:pt>
                  <c:pt idx="59">
                    <c:v>1</c:v>
                  </c:pt>
                </c:lvl>
              </c:multiLvlStrCache>
            </c:multiLvlStrRef>
          </c:cat>
          <c:val>
            <c:numRef>
              <c:f>Sheet1!$B$2:$B$61</c:f>
              <c:numCache>
                <c:formatCode>General</c:formatCode>
                <c:ptCount val="60"/>
                <c:pt idx="0">
                  <c:v>8699</c:v>
                </c:pt>
                <c:pt idx="1">
                  <c:v>8699</c:v>
                </c:pt>
                <c:pt idx="2">
                  <c:v>8499</c:v>
                </c:pt>
                <c:pt idx="3">
                  <c:v>8599</c:v>
                </c:pt>
                <c:pt idx="4">
                  <c:v>8299</c:v>
                </c:pt>
                <c:pt idx="5">
                  <c:v>8599</c:v>
                </c:pt>
                <c:pt idx="6">
                  <c:v>8499</c:v>
                </c:pt>
                <c:pt idx="7">
                  <c:v>8699</c:v>
                </c:pt>
                <c:pt idx="8">
                  <c:v>8299</c:v>
                </c:pt>
                <c:pt idx="9">
                  <c:v>8199</c:v>
                </c:pt>
                <c:pt idx="10">
                  <c:v>8399</c:v>
                </c:pt>
                <c:pt idx="11">
                  <c:v>8699</c:v>
                </c:pt>
                <c:pt idx="12">
                  <c:v>8499</c:v>
                </c:pt>
                <c:pt idx="13">
                  <c:v>8399</c:v>
                </c:pt>
                <c:pt idx="14">
                  <c:v>8299</c:v>
                </c:pt>
                <c:pt idx="15">
                  <c:v>8599</c:v>
                </c:pt>
                <c:pt idx="16">
                  <c:v>8599</c:v>
                </c:pt>
                <c:pt idx="17">
                  <c:v>8499</c:v>
                </c:pt>
                <c:pt idx="18">
                  <c:v>8499</c:v>
                </c:pt>
                <c:pt idx="19">
                  <c:v>8399</c:v>
                </c:pt>
                <c:pt idx="20">
                  <c:v>8499</c:v>
                </c:pt>
                <c:pt idx="21">
                  <c:v>8699</c:v>
                </c:pt>
                <c:pt idx="22">
                  <c:v>8299</c:v>
                </c:pt>
                <c:pt idx="23">
                  <c:v>8499</c:v>
                </c:pt>
                <c:pt idx="24">
                  <c:v>8699</c:v>
                </c:pt>
                <c:pt idx="25">
                  <c:v>8299</c:v>
                </c:pt>
                <c:pt idx="26">
                  <c:v>8299</c:v>
                </c:pt>
                <c:pt idx="27">
                  <c:v>8299</c:v>
                </c:pt>
                <c:pt idx="28">
                  <c:v>8699</c:v>
                </c:pt>
                <c:pt idx="29">
                  <c:v>8699</c:v>
                </c:pt>
                <c:pt idx="30">
                  <c:v>8699</c:v>
                </c:pt>
                <c:pt idx="31">
                  <c:v>8499</c:v>
                </c:pt>
                <c:pt idx="32">
                  <c:v>8299</c:v>
                </c:pt>
                <c:pt idx="33">
                  <c:v>8399</c:v>
                </c:pt>
                <c:pt idx="34">
                  <c:v>8599</c:v>
                </c:pt>
                <c:pt idx="35">
                  <c:v>8699</c:v>
                </c:pt>
                <c:pt idx="36">
                  <c:v>8399</c:v>
                </c:pt>
                <c:pt idx="37">
                  <c:v>8499</c:v>
                </c:pt>
                <c:pt idx="38">
                  <c:v>8599</c:v>
                </c:pt>
                <c:pt idx="39">
                  <c:v>8399</c:v>
                </c:pt>
                <c:pt idx="40">
                  <c:v>8699</c:v>
                </c:pt>
                <c:pt idx="41">
                  <c:v>8299</c:v>
                </c:pt>
                <c:pt idx="42">
                  <c:v>8699</c:v>
                </c:pt>
                <c:pt idx="43">
                  <c:v>8399</c:v>
                </c:pt>
                <c:pt idx="44">
                  <c:v>8499</c:v>
                </c:pt>
                <c:pt idx="45">
                  <c:v>8599</c:v>
                </c:pt>
                <c:pt idx="46">
                  <c:v>8399</c:v>
                </c:pt>
                <c:pt idx="47">
                  <c:v>8699</c:v>
                </c:pt>
                <c:pt idx="48">
                  <c:v>8699</c:v>
                </c:pt>
                <c:pt idx="49">
                  <c:v>8299</c:v>
                </c:pt>
                <c:pt idx="50">
                  <c:v>8699</c:v>
                </c:pt>
                <c:pt idx="51">
                  <c:v>8399</c:v>
                </c:pt>
                <c:pt idx="52">
                  <c:v>8299</c:v>
                </c:pt>
                <c:pt idx="53">
                  <c:v>8499</c:v>
                </c:pt>
                <c:pt idx="54">
                  <c:v>8299</c:v>
                </c:pt>
                <c:pt idx="55">
                  <c:v>8299</c:v>
                </c:pt>
                <c:pt idx="56">
                  <c:v>8699</c:v>
                </c:pt>
                <c:pt idx="57">
                  <c:v>8699</c:v>
                </c:pt>
                <c:pt idx="58">
                  <c:v>8399</c:v>
                </c:pt>
                <c:pt idx="59">
                  <c:v>8599</c:v>
                </c:pt>
              </c:numCache>
            </c:numRef>
          </c:val>
          <c:smooth val="0"/>
        </c:ser>
        <c:ser>
          <c:idx val="1"/>
          <c:order val="1"/>
          <c:tx>
            <c:strRef>
              <c:f>Sheet1!$C$1</c:f>
              <c:strCache>
                <c:ptCount val="1"/>
                <c:pt idx="0">
                  <c:v>Store's "original" price</c:v>
                </c:pt>
              </c:strCache>
            </c:strRef>
          </c:tx>
          <c:spPr>
            <a:solidFill>
              <a:srgbClr val="B3261E"/>
            </a:solidFill>
            <a:ln w="3810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multiLvlStrRef>
              <c:f>Sheet1!$A$2:$A$61</c:f>
              <c:multiLvlStrCache>
                <c:ptCount val="60"/>
                <c:lvl>
                  <c:pt idx="0">
                    <c:v>60</c:v>
                  </c:pt>
                  <c:pt idx="1">
                    <c:v>59</c:v>
                  </c:pt>
                  <c:pt idx="2">
                    <c:v>58</c:v>
                  </c:pt>
                  <c:pt idx="3">
                    <c:v>57</c:v>
                  </c:pt>
                  <c:pt idx="4">
                    <c:v>56</c:v>
                  </c:pt>
                  <c:pt idx="5">
                    <c:v>55</c:v>
                  </c:pt>
                  <c:pt idx="6">
                    <c:v>54</c:v>
                  </c:pt>
                  <c:pt idx="7">
                    <c:v>53</c:v>
                  </c:pt>
                  <c:pt idx="8">
                    <c:v>52</c:v>
                  </c:pt>
                  <c:pt idx="9">
                    <c:v>51</c:v>
                  </c:pt>
                  <c:pt idx="10">
                    <c:v>50</c:v>
                  </c:pt>
                  <c:pt idx="11">
                    <c:v>49</c:v>
                  </c:pt>
                  <c:pt idx="12">
                    <c:v>48</c:v>
                  </c:pt>
                  <c:pt idx="13">
                    <c:v>47</c:v>
                  </c:pt>
                  <c:pt idx="14">
                    <c:v>46</c:v>
                  </c:pt>
                  <c:pt idx="15">
                    <c:v>45</c:v>
                  </c:pt>
                  <c:pt idx="16">
                    <c:v>44</c:v>
                  </c:pt>
                  <c:pt idx="17">
                    <c:v>43</c:v>
                  </c:pt>
                  <c:pt idx="18">
                    <c:v>42</c:v>
                  </c:pt>
                  <c:pt idx="19">
                    <c:v>41</c:v>
                  </c:pt>
                  <c:pt idx="20">
                    <c:v>40</c:v>
                  </c:pt>
                  <c:pt idx="21">
                    <c:v>39</c:v>
                  </c:pt>
                  <c:pt idx="22">
                    <c:v>38</c:v>
                  </c:pt>
                  <c:pt idx="23">
                    <c:v>37</c:v>
                  </c:pt>
                  <c:pt idx="24">
                    <c:v>36</c:v>
                  </c:pt>
                  <c:pt idx="25">
                    <c:v>35</c:v>
                  </c:pt>
                  <c:pt idx="26">
                    <c:v>34</c:v>
                  </c:pt>
                  <c:pt idx="27">
                    <c:v>33</c:v>
                  </c:pt>
                  <c:pt idx="28">
                    <c:v>32</c:v>
                  </c:pt>
                  <c:pt idx="29">
                    <c:v>31</c:v>
                  </c:pt>
                  <c:pt idx="30">
                    <c:v>30</c:v>
                  </c:pt>
                  <c:pt idx="31">
                    <c:v>29</c:v>
                  </c:pt>
                  <c:pt idx="32">
                    <c:v>28</c:v>
                  </c:pt>
                  <c:pt idx="33">
                    <c:v>27</c:v>
                  </c:pt>
                  <c:pt idx="34">
                    <c:v>26</c:v>
                  </c:pt>
                  <c:pt idx="35">
                    <c:v>25</c:v>
                  </c:pt>
                  <c:pt idx="36">
                    <c:v>24</c:v>
                  </c:pt>
                  <c:pt idx="37">
                    <c:v>23</c:v>
                  </c:pt>
                  <c:pt idx="38">
                    <c:v>22</c:v>
                  </c:pt>
                  <c:pt idx="39">
                    <c:v>21</c:v>
                  </c:pt>
                  <c:pt idx="40">
                    <c:v>20</c:v>
                  </c:pt>
                  <c:pt idx="41">
                    <c:v>19</c:v>
                  </c:pt>
                  <c:pt idx="42">
                    <c:v>18</c:v>
                  </c:pt>
                  <c:pt idx="43">
                    <c:v>17</c:v>
                  </c:pt>
                  <c:pt idx="44">
                    <c:v>16</c:v>
                  </c:pt>
                  <c:pt idx="45">
                    <c:v>15</c:v>
                  </c:pt>
                  <c:pt idx="46">
                    <c:v>14</c:v>
                  </c:pt>
                  <c:pt idx="47">
                    <c:v>13</c:v>
                  </c:pt>
                  <c:pt idx="48">
                    <c:v>12</c:v>
                  </c:pt>
                  <c:pt idx="49">
                    <c:v>11</c:v>
                  </c:pt>
                  <c:pt idx="50">
                    <c:v>10</c:v>
                  </c:pt>
                  <c:pt idx="51">
                    <c:v>9</c:v>
                  </c:pt>
                  <c:pt idx="52">
                    <c:v>8</c:v>
                  </c:pt>
                  <c:pt idx="53">
                    <c:v>7</c:v>
                  </c:pt>
                  <c:pt idx="54">
                    <c:v>6</c:v>
                  </c:pt>
                  <c:pt idx="55">
                    <c:v>5</c:v>
                  </c:pt>
                  <c:pt idx="56">
                    <c:v>4</c:v>
                  </c:pt>
                  <c:pt idx="57">
                    <c:v>3</c:v>
                  </c:pt>
                  <c:pt idx="58">
                    <c:v>2</c:v>
                  </c:pt>
                  <c:pt idx="59">
                    <c:v>1</c:v>
                  </c:pt>
                </c:lvl>
              </c:multiLvlStrCache>
            </c:multiLvlStrRef>
          </c:cat>
          <c:val>
            <c:numRef>
              <c:f>Sheet1!$C$2:$C$61</c:f>
              <c:numCache>
                <c:formatCode>General</c:formatCode>
                <c:ptCount val="60"/>
                <c:pt idx="0">
                  <c:v>12999</c:v>
                </c:pt>
                <c:pt idx="1">
                  <c:v>12999</c:v>
                </c:pt>
                <c:pt idx="2">
                  <c:v>12999</c:v>
                </c:pt>
                <c:pt idx="3">
                  <c:v>12999</c:v>
                </c:pt>
                <c:pt idx="4">
                  <c:v>12999</c:v>
                </c:pt>
                <c:pt idx="5">
                  <c:v>12999</c:v>
                </c:pt>
                <c:pt idx="6">
                  <c:v>12999</c:v>
                </c:pt>
                <c:pt idx="7">
                  <c:v>12999</c:v>
                </c:pt>
                <c:pt idx="8">
                  <c:v>12999</c:v>
                </c:pt>
                <c:pt idx="9">
                  <c:v>12999</c:v>
                </c:pt>
                <c:pt idx="10">
                  <c:v>12999</c:v>
                </c:pt>
                <c:pt idx="11">
                  <c:v>12999</c:v>
                </c:pt>
                <c:pt idx="12">
                  <c:v>12999</c:v>
                </c:pt>
                <c:pt idx="13">
                  <c:v>12999</c:v>
                </c:pt>
                <c:pt idx="14">
                  <c:v>12999</c:v>
                </c:pt>
                <c:pt idx="15">
                  <c:v>12999</c:v>
                </c:pt>
                <c:pt idx="16">
                  <c:v>12999</c:v>
                </c:pt>
                <c:pt idx="17">
                  <c:v>12999</c:v>
                </c:pt>
                <c:pt idx="18">
                  <c:v>12999</c:v>
                </c:pt>
                <c:pt idx="19">
                  <c:v>12999</c:v>
                </c:pt>
                <c:pt idx="20">
                  <c:v>12999</c:v>
                </c:pt>
                <c:pt idx="21">
                  <c:v>12999</c:v>
                </c:pt>
                <c:pt idx="22">
                  <c:v>12999</c:v>
                </c:pt>
                <c:pt idx="23">
                  <c:v>12999</c:v>
                </c:pt>
                <c:pt idx="24">
                  <c:v>12999</c:v>
                </c:pt>
                <c:pt idx="25">
                  <c:v>12999</c:v>
                </c:pt>
                <c:pt idx="26">
                  <c:v>12999</c:v>
                </c:pt>
                <c:pt idx="27">
                  <c:v>12999</c:v>
                </c:pt>
                <c:pt idx="28">
                  <c:v>12999</c:v>
                </c:pt>
                <c:pt idx="29">
                  <c:v>12999</c:v>
                </c:pt>
                <c:pt idx="30">
                  <c:v>12999</c:v>
                </c:pt>
                <c:pt idx="31">
                  <c:v>12999</c:v>
                </c:pt>
                <c:pt idx="32">
                  <c:v>12999</c:v>
                </c:pt>
                <c:pt idx="33">
                  <c:v>12999</c:v>
                </c:pt>
                <c:pt idx="34">
                  <c:v>12999</c:v>
                </c:pt>
                <c:pt idx="35">
                  <c:v>12999</c:v>
                </c:pt>
                <c:pt idx="36">
                  <c:v>12999</c:v>
                </c:pt>
                <c:pt idx="37">
                  <c:v>12999</c:v>
                </c:pt>
                <c:pt idx="38">
                  <c:v>12999</c:v>
                </c:pt>
                <c:pt idx="39">
                  <c:v>12999</c:v>
                </c:pt>
                <c:pt idx="40">
                  <c:v>12999</c:v>
                </c:pt>
                <c:pt idx="41">
                  <c:v>12999</c:v>
                </c:pt>
                <c:pt idx="42">
                  <c:v>12999</c:v>
                </c:pt>
                <c:pt idx="43">
                  <c:v>12999</c:v>
                </c:pt>
                <c:pt idx="44">
                  <c:v>12999</c:v>
                </c:pt>
                <c:pt idx="45">
                  <c:v>12999</c:v>
                </c:pt>
                <c:pt idx="46">
                  <c:v>12999</c:v>
                </c:pt>
                <c:pt idx="47">
                  <c:v>12999</c:v>
                </c:pt>
                <c:pt idx="48">
                  <c:v>12999</c:v>
                </c:pt>
                <c:pt idx="49">
                  <c:v>12999</c:v>
                </c:pt>
                <c:pt idx="50">
                  <c:v>12999</c:v>
                </c:pt>
                <c:pt idx="51">
                  <c:v>12999</c:v>
                </c:pt>
                <c:pt idx="52">
                  <c:v>12999</c:v>
                </c:pt>
                <c:pt idx="53">
                  <c:v>12999</c:v>
                </c:pt>
                <c:pt idx="54">
                  <c:v>12999</c:v>
                </c:pt>
                <c:pt idx="55">
                  <c:v>12999</c:v>
                </c:pt>
                <c:pt idx="56">
                  <c:v>12999</c:v>
                </c:pt>
                <c:pt idx="57">
                  <c:v>12999</c:v>
                </c:pt>
                <c:pt idx="58">
                  <c:v>12999</c:v>
                </c:pt>
                <c:pt idx="59">
                  <c:v>12999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760"/>
                    </a:solidFill>
                    <a:latin typeface="+mn-lt"/>
                  </a:defRPr>
                </a:pPr>
                <a:r>
                  <a:rPr sz="1100" b="0" i="0" u="none" strike="noStrike">
                    <a:solidFill>
                      <a:srgbClr val="5B6760"/>
                    </a:solidFill>
                    <a:latin typeface="+mn-lt"/>
                  </a:rPr>
                  <a:t>Days ago</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760"/>
                </a:solidFill>
                <a:latin typeface="+mn-lt"/>
              </a:defRPr>
            </a:pPr>
            <a:endParaRPr lang="en-US"/>
          </a:p>
        </c:txPr>
        <c:crossAx val="2094734552"/>
        <c:crosses val="autoZero"/>
        <c:auto val="1"/>
        <c:lblAlgn val="ctr"/>
        <c:noMultiLvlLbl val="1"/>
        <c:tickLblSkip val="10"/>
      </c:catAx>
      <c:valAx>
        <c:axId val="2094734552"/>
        <c:scaling>
          <c:orientation val="minMax"/>
          <c:max val="14000"/>
          <c:min val="0"/>
        </c:scaling>
        <c:delete val="0"/>
        <c:axPos val="l"/>
        <c:majorGridlines>
          <c:spPr>
            <a:ln w="9525" cap="flat">
              <a:solidFill>
                <a:srgbClr val="D9E2DD"/>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60"/>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200">
              <a:solidFill>
                <a:srgbClr val="2E3B3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DealScout. One line: trackers watch a product, we watch a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 wants an audio interface under 15 thousand rupees. She checks five sites every few days. Trackers don't help, and the banner discount is often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steps left to right. The quote is the exact request we type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output of our prototype, running on test data. Live demo: run npm run demo and open out/digest.html.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PreSonus AudioBox on test data. The red line is the 'original price' the store shows. The green line is what it actually sold for. It never came close, so the discount is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Gemini watch spec and discovery are written; deploy, Firestore and email sending are the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price history takes days to accumulate, which is why the demo uses seeded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640080" y="1371600"/>
            <a:ext cx="493776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DealScout</a:t>
            </a:r>
            <a:endParaRPr lang="en-US" sz="5400" dirty="0"/>
          </a:p>
        </p:txBody>
      </p:sp>
      <p:sp>
        <p:nvSpPr>
          <p:cNvPr id="3" name="Subtitle"/>
          <p:cNvSpPr txBox="1"/>
          <p:nvPr/>
        </p:nvSpPr>
        <p:spPr>
          <a:xfrm>
            <a:off x="640080" y="2377440"/>
            <a:ext cx="4937760" cy="457200"/>
          </a:xfrm>
          <a:prstGeom prst="rect">
            <a:avLst/>
          </a:prstGeom>
          <a:noFill/>
          <a:ln/>
        </p:spPr>
        <p:txBody>
          <a:bodyPr wrap="square" lIns="0" tIns="0" rIns="0" bIns="0" rtlCol="0" anchor="ctr"/>
          <a:lstStyle/>
          <a:p>
            <a:pPr indent="0" marL="0">
              <a:buNone/>
            </a:pPr>
            <a:r>
              <a:rPr lang="en-US" sz="2200" dirty="0">
                <a:solidFill>
                  <a:schemeClr val="accent5"/>
                </a:solidFill>
              </a:rPr>
              <a:t>Watches the need, not the product.</a:t>
            </a:r>
            <a:endParaRPr lang="en-US" sz="2200" dirty="0"/>
          </a:p>
        </p:txBody>
      </p:sp>
      <p:sp>
        <p:nvSpPr>
          <p:cNvPr id="4" name="Tagline"/>
          <p:cNvSpPr txBox="1"/>
          <p:nvPr/>
        </p:nvSpPr>
        <p:spPr>
          <a:xfrm>
            <a:off x="640080" y="3017520"/>
            <a:ext cx="4937760" cy="365760"/>
          </a:xfrm>
          <a:prstGeom prst="rect">
            <a:avLst/>
          </a:prstGeom>
          <a:noFill/>
          <a:ln/>
        </p:spPr>
        <p:txBody>
          <a:bodyPr wrap="square" lIns="0" tIns="0" rIns="0" bIns="0" rtlCol="0" anchor="ctr"/>
          <a:lstStyle/>
          <a:p>
            <a:pPr indent="0" marL="0">
              <a:buNone/>
            </a:pPr>
            <a:r>
              <a:rPr lang="en-US" sz="1400" dirty="0">
                <a:solidFill>
                  <a:schemeClr val="bg2"/>
                </a:solidFill>
              </a:rPr>
              <a:t>An AI shopping scout built on Gemini and Google Cloud</a:t>
            </a:r>
            <a:endParaRPr lang="en-US" sz="1400" dirty="0"/>
          </a:p>
        </p:txBody>
      </p:sp>
      <p:sp>
        <p:nvSpPr>
          <p:cNvPr id="5" name="Chip BUY NOW"/>
          <p:cNvSpPr/>
          <p:nvPr/>
        </p:nvSpPr>
        <p:spPr>
          <a:xfrm>
            <a:off x="6126480" y="1234440"/>
            <a:ext cx="2377440" cy="685800"/>
          </a:xfrm>
          <a:prstGeom prst="roundRect">
            <a:avLst>
              <a:gd name="adj" fmla="val 13333"/>
            </a:avLst>
          </a:prstGeom>
          <a:solidFill>
            <a:schemeClr val="accent1"/>
          </a:solidFill>
          <a:ln w="12700">
            <a:solidFill>
              <a:schemeClr val="accent1"/>
            </a:solidFill>
            <a:prstDash val="solid"/>
          </a:ln>
        </p:spPr>
      </p:sp>
      <p:sp>
        <p:nvSpPr>
          <p:cNvPr id="6" name="Chip label BUY NOW"/>
          <p:cNvSpPr txBox="1"/>
          <p:nvPr/>
        </p:nvSpPr>
        <p:spPr>
          <a:xfrm>
            <a:off x="6126480" y="1234440"/>
            <a:ext cx="23774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BUY NOW</a:t>
            </a:r>
            <a:endParaRPr lang="en-US" sz="1600" dirty="0"/>
          </a:p>
        </p:txBody>
      </p:sp>
      <p:sp>
        <p:nvSpPr>
          <p:cNvPr id="7" name="Chip WAIT"/>
          <p:cNvSpPr/>
          <p:nvPr/>
        </p:nvSpPr>
        <p:spPr>
          <a:xfrm>
            <a:off x="6355080" y="2148840"/>
            <a:ext cx="2377440" cy="685800"/>
          </a:xfrm>
          <a:prstGeom prst="roundRect">
            <a:avLst>
              <a:gd name="adj" fmla="val 13333"/>
            </a:avLst>
          </a:prstGeom>
          <a:solidFill>
            <a:schemeClr val="accent2"/>
          </a:solidFill>
          <a:ln w="12700">
            <a:solidFill>
              <a:schemeClr val="accent2"/>
            </a:solidFill>
            <a:prstDash val="solid"/>
          </a:ln>
        </p:spPr>
      </p:sp>
      <p:sp>
        <p:nvSpPr>
          <p:cNvPr id="8" name="Chip label WAIT"/>
          <p:cNvSpPr txBox="1"/>
          <p:nvPr/>
        </p:nvSpPr>
        <p:spPr>
          <a:xfrm>
            <a:off x="6355080" y="2148840"/>
            <a:ext cx="23774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WAIT</a:t>
            </a:r>
            <a:endParaRPr lang="en-US" sz="1600" dirty="0"/>
          </a:p>
        </p:txBody>
      </p:sp>
      <p:sp>
        <p:nvSpPr>
          <p:cNvPr id="9" name="Chip FAKE DISCOUNT"/>
          <p:cNvSpPr/>
          <p:nvPr/>
        </p:nvSpPr>
        <p:spPr>
          <a:xfrm>
            <a:off x="6583680" y="3063240"/>
            <a:ext cx="2377440" cy="685800"/>
          </a:xfrm>
          <a:prstGeom prst="roundRect">
            <a:avLst>
              <a:gd name="adj" fmla="val 13333"/>
            </a:avLst>
          </a:prstGeom>
          <a:solidFill>
            <a:schemeClr val="accent3"/>
          </a:solidFill>
          <a:ln w="12700">
            <a:solidFill>
              <a:schemeClr val="accent3"/>
            </a:solidFill>
            <a:prstDash val="solid"/>
          </a:ln>
        </p:spPr>
      </p:sp>
      <p:sp>
        <p:nvSpPr>
          <p:cNvPr id="10" name="Chip label FAKE DISCOUNT"/>
          <p:cNvSpPr txBox="1"/>
          <p:nvPr/>
        </p:nvSpPr>
        <p:spPr>
          <a:xfrm>
            <a:off x="6583680" y="3063240"/>
            <a:ext cx="23774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FAKE DISCOUNT</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Shopping on a budget means checking everywhere, all the time</a:t>
            </a:r>
            <a:endParaRPr lang="en-US" sz="3000" dirty="0"/>
          </a:p>
        </p:txBody>
      </p:sp>
      <p:sp>
        <p:nvSpPr>
          <p:cNvPr id="3" name="Card 1"/>
          <p:cNvSpPr/>
          <p:nvPr/>
        </p:nvSpPr>
        <p:spPr>
          <a:xfrm>
            <a:off x="548640" y="1554480"/>
            <a:ext cx="2560320" cy="2834640"/>
          </a:xfrm>
          <a:prstGeom prst="roundRect">
            <a:avLst>
              <a:gd name="adj" fmla="val 2857"/>
            </a:avLst>
          </a:prstGeom>
          <a:solidFill>
            <a:schemeClr val="bg2"/>
          </a:solidFill>
          <a:ln w="12700">
            <a:solidFill>
              <a:schemeClr val="bg2"/>
            </a:solidFill>
            <a:prstDash val="solid"/>
          </a:ln>
        </p:spPr>
      </p:sp>
      <p:sp>
        <p:nvSpPr>
          <p:cNvPr id="4" name="Stat 1"/>
          <p:cNvSpPr txBox="1"/>
          <p:nvPr/>
        </p:nvSpPr>
        <p:spPr>
          <a:xfrm>
            <a:off x="777240" y="1783080"/>
            <a:ext cx="2103120" cy="82296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5" name="Label 1"/>
          <p:cNvSpPr txBox="1"/>
          <p:nvPr/>
        </p:nvSpPr>
        <p:spPr>
          <a:xfrm>
            <a:off x="777240" y="265176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stores to check</a:t>
            </a:r>
            <a:endParaRPr lang="en-US" sz="1600" dirty="0"/>
          </a:p>
        </p:txBody>
      </p:sp>
      <p:sp>
        <p:nvSpPr>
          <p:cNvPr id="6" name="Body 1"/>
          <p:cNvSpPr txBox="1"/>
          <p:nvPr/>
        </p:nvSpPr>
        <p:spPr>
          <a:xfrm>
            <a:off x="777240" y="3063240"/>
            <a:ext cx="2103120" cy="1188720"/>
          </a:xfrm>
          <a:prstGeom prst="rect">
            <a:avLst/>
          </a:prstGeom>
          <a:noFill/>
          <a:ln/>
        </p:spPr>
        <p:txBody>
          <a:bodyPr wrap="square" lIns="0" tIns="0" rIns="0" bIns="0" rtlCol="0" anchor="t"/>
          <a:lstStyle/>
          <a:p>
            <a:pPr indent="0" marL="0">
              <a:buNone/>
            </a:pPr>
            <a:r>
              <a:rPr lang="en-US" sz="1400" dirty="0">
                <a:solidFill>
                  <a:schemeClr val="tx2"/>
                </a:solidFill>
              </a:rPr>
              <a:t>Amazon, Flipkart and niche music shops each list different models at different prices.</a:t>
            </a:r>
            <a:endParaRPr lang="en-US" sz="1400" dirty="0"/>
          </a:p>
        </p:txBody>
      </p:sp>
      <p:sp>
        <p:nvSpPr>
          <p:cNvPr id="7" name="Card 2"/>
          <p:cNvSpPr/>
          <p:nvPr/>
        </p:nvSpPr>
        <p:spPr>
          <a:xfrm>
            <a:off x="3291840" y="1554480"/>
            <a:ext cx="2560320" cy="2834640"/>
          </a:xfrm>
          <a:prstGeom prst="roundRect">
            <a:avLst>
              <a:gd name="adj" fmla="val 2857"/>
            </a:avLst>
          </a:prstGeom>
          <a:solidFill>
            <a:schemeClr val="bg2"/>
          </a:solidFill>
          <a:ln w="12700">
            <a:solidFill>
              <a:schemeClr val="bg2"/>
            </a:solidFill>
            <a:prstDash val="solid"/>
          </a:ln>
        </p:spPr>
      </p:sp>
      <p:sp>
        <p:nvSpPr>
          <p:cNvPr id="8" name="Stat 2"/>
          <p:cNvSpPr txBox="1"/>
          <p:nvPr/>
        </p:nvSpPr>
        <p:spPr>
          <a:xfrm>
            <a:off x="3520440" y="1783080"/>
            <a:ext cx="2103120" cy="82296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a:t>
            </a:r>
            <a:endParaRPr lang="en-US" sz="4000" dirty="0"/>
          </a:p>
        </p:txBody>
      </p:sp>
      <p:sp>
        <p:nvSpPr>
          <p:cNvPr id="9" name="Label 2"/>
          <p:cNvSpPr txBox="1"/>
          <p:nvPr/>
        </p:nvSpPr>
        <p:spPr>
          <a:xfrm>
            <a:off x="3520440" y="265176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link per tracker</a:t>
            </a:r>
            <a:endParaRPr lang="en-US" sz="1600" dirty="0"/>
          </a:p>
        </p:txBody>
      </p:sp>
      <p:sp>
        <p:nvSpPr>
          <p:cNvPr id="10" name="Body 2"/>
          <p:cNvSpPr txBox="1"/>
          <p:nvPr/>
        </p:nvSpPr>
        <p:spPr>
          <a:xfrm>
            <a:off x="3520440" y="3063240"/>
            <a:ext cx="2103120" cy="1188720"/>
          </a:xfrm>
          <a:prstGeom prst="rect">
            <a:avLst/>
          </a:prstGeom>
          <a:noFill/>
          <a:ln/>
        </p:spPr>
        <p:txBody>
          <a:bodyPr wrap="square" lIns="0" tIns="0" rIns="0" bIns="0" rtlCol="0" anchor="t"/>
          <a:lstStyle/>
          <a:p>
            <a:pPr indent="0" marL="0">
              <a:buNone/>
            </a:pPr>
            <a:r>
              <a:rPr lang="en-US" sz="1400" dirty="0">
                <a:solidFill>
                  <a:schemeClr val="tx2"/>
                </a:solidFill>
              </a:rPr>
              <a:t>Price trackers only watch a product you already picked, so you never see the options you missed.</a:t>
            </a:r>
            <a:endParaRPr lang="en-US" sz="1400" dirty="0"/>
          </a:p>
        </p:txBody>
      </p:sp>
      <p:sp>
        <p:nvSpPr>
          <p:cNvPr id="11" name="Card 3"/>
          <p:cNvSpPr/>
          <p:nvPr/>
        </p:nvSpPr>
        <p:spPr>
          <a:xfrm>
            <a:off x="6035040" y="1554480"/>
            <a:ext cx="2560320" cy="2834640"/>
          </a:xfrm>
          <a:prstGeom prst="roundRect">
            <a:avLst>
              <a:gd name="adj" fmla="val 2857"/>
            </a:avLst>
          </a:prstGeom>
          <a:solidFill>
            <a:schemeClr val="bg2"/>
          </a:solidFill>
          <a:ln w="12700">
            <a:solidFill>
              <a:schemeClr val="bg2"/>
            </a:solidFill>
            <a:prstDash val="solid"/>
          </a:ln>
        </p:spPr>
      </p:sp>
      <p:sp>
        <p:nvSpPr>
          <p:cNvPr id="12" name="Stat 3"/>
          <p:cNvSpPr txBox="1"/>
          <p:nvPr/>
        </p:nvSpPr>
        <p:spPr>
          <a:xfrm>
            <a:off x="6263640" y="1783080"/>
            <a:ext cx="2103120" cy="82296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₹12,999</a:t>
            </a:r>
            <a:endParaRPr lang="en-US" sz="4000" dirty="0"/>
          </a:p>
        </p:txBody>
      </p:sp>
      <p:sp>
        <p:nvSpPr>
          <p:cNvPr id="13" name="Label 3"/>
          <p:cNvSpPr txBox="1"/>
          <p:nvPr/>
        </p:nvSpPr>
        <p:spPr>
          <a:xfrm>
            <a:off x="6263640" y="265176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was never the price</a:t>
            </a:r>
            <a:endParaRPr lang="en-US" sz="1600" dirty="0"/>
          </a:p>
        </p:txBody>
      </p:sp>
      <p:sp>
        <p:nvSpPr>
          <p:cNvPr id="14" name="Body 3"/>
          <p:cNvSpPr txBox="1"/>
          <p:nvPr/>
        </p:nvSpPr>
        <p:spPr>
          <a:xfrm>
            <a:off x="6263640" y="3063240"/>
            <a:ext cx="2103120" cy="1188720"/>
          </a:xfrm>
          <a:prstGeom prst="rect">
            <a:avLst/>
          </a:prstGeom>
          <a:noFill/>
          <a:ln/>
        </p:spPr>
        <p:txBody>
          <a:bodyPr wrap="square" lIns="0" tIns="0" rIns="0" bIns="0" rtlCol="0" anchor="t"/>
          <a:lstStyle/>
          <a:p>
            <a:pPr indent="0" marL="0">
              <a:buNone/>
            </a:pPr>
            <a:r>
              <a:rPr lang="en-US" sz="1400" dirty="0">
                <a:solidFill>
                  <a:schemeClr val="tx2"/>
                </a:solidFill>
              </a:rPr>
              <a:t>"35% off" is often measured against a price the product never sold at.</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Describe the need. DealScout does the watching.</a:t>
            </a:r>
            <a:endParaRPr lang="en-US" sz="3000" dirty="0"/>
          </a:p>
        </p:txBody>
      </p:sp>
      <p:sp>
        <p:nvSpPr>
          <p:cNvPr id="3" name="Step 1"/>
          <p:cNvSpPr/>
          <p:nvPr/>
        </p:nvSpPr>
        <p:spPr>
          <a:xfrm>
            <a:off x="548640" y="1600200"/>
            <a:ext cx="1463040" cy="1920240"/>
          </a:xfrm>
          <a:prstGeom prst="roundRect">
            <a:avLst>
              <a:gd name="adj" fmla="val 5000"/>
            </a:avLst>
          </a:prstGeom>
          <a:solidFill>
            <a:schemeClr val="bg2"/>
          </a:solidFill>
          <a:ln w="12700">
            <a:solidFill>
              <a:schemeClr val="bg2"/>
            </a:solidFill>
            <a:prstDash val="solid"/>
          </a:ln>
        </p:spPr>
      </p:sp>
      <p:sp>
        <p:nvSpPr>
          <p:cNvPr id="4" name="Step number 1"/>
          <p:cNvSpPr txBox="1"/>
          <p:nvPr/>
        </p:nvSpPr>
        <p:spPr>
          <a:xfrm>
            <a:off x="731520"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5" name="Step title 1"/>
          <p:cNvSpPr txBox="1"/>
          <p:nvPr/>
        </p:nvSpPr>
        <p:spPr>
          <a:xfrm>
            <a:off x="731520"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Describe</a:t>
            </a:r>
            <a:endParaRPr lang="en-US" sz="1600" dirty="0"/>
          </a:p>
        </p:txBody>
      </p:sp>
      <p:sp>
        <p:nvSpPr>
          <p:cNvPr id="6" name="Step body 1"/>
          <p:cNvSpPr txBox="1"/>
          <p:nvPr/>
        </p:nvSpPr>
        <p:spPr>
          <a:xfrm>
            <a:off x="731520"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Plain English plus a budget</a:t>
            </a:r>
            <a:endParaRPr lang="en-US" sz="1200" dirty="0"/>
          </a:p>
        </p:txBody>
      </p:sp>
      <p:sp>
        <p:nvSpPr>
          <p:cNvPr id="7" name="Step 2"/>
          <p:cNvSpPr/>
          <p:nvPr/>
        </p:nvSpPr>
        <p:spPr>
          <a:xfrm>
            <a:off x="2176272" y="1600200"/>
            <a:ext cx="1463040" cy="1920240"/>
          </a:xfrm>
          <a:prstGeom prst="roundRect">
            <a:avLst>
              <a:gd name="adj" fmla="val 5000"/>
            </a:avLst>
          </a:prstGeom>
          <a:solidFill>
            <a:schemeClr val="bg2"/>
          </a:solidFill>
          <a:ln w="12700">
            <a:solidFill>
              <a:schemeClr val="bg2"/>
            </a:solidFill>
            <a:prstDash val="solid"/>
          </a:ln>
        </p:spPr>
      </p:sp>
      <p:sp>
        <p:nvSpPr>
          <p:cNvPr id="8" name="Step number 2"/>
          <p:cNvSpPr txBox="1"/>
          <p:nvPr/>
        </p:nvSpPr>
        <p:spPr>
          <a:xfrm>
            <a:off x="2359152"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a:t>
            </a:r>
            <a:endParaRPr lang="en-US" sz="2600" dirty="0"/>
          </a:p>
        </p:txBody>
      </p:sp>
      <p:sp>
        <p:nvSpPr>
          <p:cNvPr id="9" name="Step title 2"/>
          <p:cNvSpPr txBox="1"/>
          <p:nvPr/>
        </p:nvSpPr>
        <p:spPr>
          <a:xfrm>
            <a:off x="2359152"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Spec</a:t>
            </a:r>
            <a:endParaRPr lang="en-US" sz="1600" dirty="0"/>
          </a:p>
        </p:txBody>
      </p:sp>
      <p:sp>
        <p:nvSpPr>
          <p:cNvPr id="10" name="Step body 2"/>
          <p:cNvSpPr txBox="1"/>
          <p:nvPr/>
        </p:nvSpPr>
        <p:spPr>
          <a:xfrm>
            <a:off x="2359152"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Gemini turns it into a watch spec</a:t>
            </a:r>
            <a:endParaRPr lang="en-US" sz="1200" dirty="0"/>
          </a:p>
        </p:txBody>
      </p:sp>
      <p:sp>
        <p:nvSpPr>
          <p:cNvPr id="11" name="Step 3"/>
          <p:cNvSpPr/>
          <p:nvPr/>
        </p:nvSpPr>
        <p:spPr>
          <a:xfrm>
            <a:off x="3803904" y="1600200"/>
            <a:ext cx="1463040" cy="1920240"/>
          </a:xfrm>
          <a:prstGeom prst="roundRect">
            <a:avLst>
              <a:gd name="adj" fmla="val 5000"/>
            </a:avLst>
          </a:prstGeom>
          <a:solidFill>
            <a:schemeClr val="bg2"/>
          </a:solidFill>
          <a:ln w="12700">
            <a:solidFill>
              <a:schemeClr val="bg2"/>
            </a:solidFill>
            <a:prstDash val="solid"/>
          </a:ln>
        </p:spPr>
      </p:sp>
      <p:sp>
        <p:nvSpPr>
          <p:cNvPr id="12" name="Step number 3"/>
          <p:cNvSpPr txBox="1"/>
          <p:nvPr/>
        </p:nvSpPr>
        <p:spPr>
          <a:xfrm>
            <a:off x="3986784"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a:t>
            </a:r>
            <a:endParaRPr lang="en-US" sz="2600" dirty="0"/>
          </a:p>
        </p:txBody>
      </p:sp>
      <p:sp>
        <p:nvSpPr>
          <p:cNvPr id="13" name="Step title 3"/>
          <p:cNvSpPr txBox="1"/>
          <p:nvPr/>
        </p:nvSpPr>
        <p:spPr>
          <a:xfrm>
            <a:off x="3986784"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Discover</a:t>
            </a:r>
            <a:endParaRPr lang="en-US" sz="1600" dirty="0"/>
          </a:p>
        </p:txBody>
      </p:sp>
      <p:sp>
        <p:nvSpPr>
          <p:cNvPr id="14" name="Step body 3"/>
          <p:cNvSpPr txBox="1"/>
          <p:nvPr/>
        </p:nvSpPr>
        <p:spPr>
          <a:xfrm>
            <a:off x="3986784"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Google Search finds every match</a:t>
            </a:r>
            <a:endParaRPr lang="en-US" sz="1200" dirty="0"/>
          </a:p>
        </p:txBody>
      </p:sp>
      <p:sp>
        <p:nvSpPr>
          <p:cNvPr id="15" name="Step 4"/>
          <p:cNvSpPr/>
          <p:nvPr/>
        </p:nvSpPr>
        <p:spPr>
          <a:xfrm>
            <a:off x="5431536" y="1600200"/>
            <a:ext cx="1463040" cy="1920240"/>
          </a:xfrm>
          <a:prstGeom prst="roundRect">
            <a:avLst>
              <a:gd name="adj" fmla="val 5000"/>
            </a:avLst>
          </a:prstGeom>
          <a:solidFill>
            <a:schemeClr val="bg2"/>
          </a:solidFill>
          <a:ln w="12700">
            <a:solidFill>
              <a:schemeClr val="bg2"/>
            </a:solidFill>
            <a:prstDash val="solid"/>
          </a:ln>
        </p:spPr>
      </p:sp>
      <p:sp>
        <p:nvSpPr>
          <p:cNvPr id="16" name="Step number 4"/>
          <p:cNvSpPr txBox="1"/>
          <p:nvPr/>
        </p:nvSpPr>
        <p:spPr>
          <a:xfrm>
            <a:off x="5614416"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4</a:t>
            </a:r>
            <a:endParaRPr lang="en-US" sz="2600" dirty="0"/>
          </a:p>
        </p:txBody>
      </p:sp>
      <p:sp>
        <p:nvSpPr>
          <p:cNvPr id="17" name="Step title 4"/>
          <p:cNvSpPr txBox="1"/>
          <p:nvPr/>
        </p:nvSpPr>
        <p:spPr>
          <a:xfrm>
            <a:off x="5614416"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Track</a:t>
            </a:r>
            <a:endParaRPr lang="en-US" sz="1600" dirty="0"/>
          </a:p>
        </p:txBody>
      </p:sp>
      <p:sp>
        <p:nvSpPr>
          <p:cNvPr id="18" name="Step body 4"/>
          <p:cNvSpPr txBox="1"/>
          <p:nvPr/>
        </p:nvSpPr>
        <p:spPr>
          <a:xfrm>
            <a:off x="5614416"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Prices saved daily as history</a:t>
            </a:r>
            <a:endParaRPr lang="en-US" sz="1200" dirty="0"/>
          </a:p>
        </p:txBody>
      </p:sp>
      <p:sp>
        <p:nvSpPr>
          <p:cNvPr id="19" name="Step 5"/>
          <p:cNvSpPr/>
          <p:nvPr/>
        </p:nvSpPr>
        <p:spPr>
          <a:xfrm>
            <a:off x="7059168" y="1600200"/>
            <a:ext cx="1463040" cy="1920240"/>
          </a:xfrm>
          <a:prstGeom prst="roundRect">
            <a:avLst>
              <a:gd name="adj" fmla="val 5000"/>
            </a:avLst>
          </a:prstGeom>
          <a:solidFill>
            <a:schemeClr val="accent1"/>
          </a:solidFill>
          <a:ln w="12700">
            <a:solidFill>
              <a:schemeClr val="accent1"/>
            </a:solidFill>
            <a:prstDash val="solid"/>
          </a:ln>
        </p:spPr>
      </p:sp>
      <p:sp>
        <p:nvSpPr>
          <p:cNvPr id="20" name="Step number 5"/>
          <p:cNvSpPr txBox="1"/>
          <p:nvPr/>
        </p:nvSpPr>
        <p:spPr>
          <a:xfrm>
            <a:off x="7242048" y="1783080"/>
            <a:ext cx="457200" cy="457200"/>
          </a:xfrm>
          <a:prstGeom prst="rect">
            <a:avLst/>
          </a:prstGeom>
          <a:noFill/>
          <a:ln/>
        </p:spPr>
        <p:txBody>
          <a:bodyPr wrap="square" lIns="0" tIns="0" rIns="0" bIns="0" rtlCol="0" anchor="ctr"/>
          <a:lstStyle/>
          <a:p>
            <a:pPr indent="0" marL="0">
              <a:buNone/>
            </a:pPr>
            <a:r>
              <a:rPr lang="en-US" sz="2600" b="1" dirty="0">
                <a:solidFill>
                  <a:schemeClr val="accent5"/>
                </a:solidFill>
                <a:latin typeface="Cambria" pitchFamily="34" charset="0"/>
                <a:ea typeface="Cambria" pitchFamily="34" charset="-122"/>
                <a:cs typeface="Cambria" pitchFamily="34" charset="-120"/>
              </a:rPr>
              <a:t>5</a:t>
            </a:r>
            <a:endParaRPr lang="en-US" sz="2600" dirty="0"/>
          </a:p>
        </p:txBody>
      </p:sp>
      <p:sp>
        <p:nvSpPr>
          <p:cNvPr id="21" name="Step title 5"/>
          <p:cNvSpPr txBox="1"/>
          <p:nvPr/>
        </p:nvSpPr>
        <p:spPr>
          <a:xfrm>
            <a:off x="7242048" y="2286000"/>
            <a:ext cx="1143000" cy="320040"/>
          </a:xfrm>
          <a:prstGeom prst="rect">
            <a:avLst/>
          </a:prstGeom>
          <a:noFill/>
          <a:ln/>
        </p:spPr>
        <p:txBody>
          <a:bodyPr wrap="square" lIns="0" tIns="0" rIns="0" bIns="0" rtlCol="0" anchor="ctr"/>
          <a:lstStyle/>
          <a:p>
            <a:pPr indent="0" marL="0">
              <a:buNone/>
            </a:pPr>
            <a:r>
              <a:rPr lang="en-US" sz="1600" b="1" dirty="0">
                <a:solidFill>
                  <a:schemeClr val="bg1"/>
                </a:solidFill>
              </a:rPr>
              <a:t>Verdict</a:t>
            </a:r>
            <a:endParaRPr lang="en-US" sz="1600" dirty="0"/>
          </a:p>
        </p:txBody>
      </p:sp>
      <p:sp>
        <p:nvSpPr>
          <p:cNvPr id="22" name="Step body 5"/>
          <p:cNvSpPr txBox="1"/>
          <p:nvPr/>
        </p:nvSpPr>
        <p:spPr>
          <a:xfrm>
            <a:off x="7242048" y="2651760"/>
            <a:ext cx="1143000" cy="777240"/>
          </a:xfrm>
          <a:prstGeom prst="rect">
            <a:avLst/>
          </a:prstGeom>
          <a:noFill/>
          <a:ln/>
        </p:spPr>
        <p:txBody>
          <a:bodyPr wrap="square" lIns="0" tIns="0" rIns="0" bIns="0" rtlCol="0" anchor="t"/>
          <a:lstStyle/>
          <a:p>
            <a:pPr indent="0" marL="0">
              <a:buNone/>
            </a:pPr>
            <a:r>
              <a:rPr lang="en-US" sz="1200" dirty="0">
                <a:solidFill>
                  <a:schemeClr val="bg1"/>
                </a:solidFill>
              </a:rPr>
              <a:t>Buy now or wait, with reasons</a:t>
            </a:r>
            <a:endParaRPr lang="en-US" sz="1200" dirty="0"/>
          </a:p>
        </p:txBody>
      </p:sp>
      <p:sp>
        <p:nvSpPr>
          <p:cNvPr id="23" name="Example request"/>
          <p:cNvSpPr/>
          <p:nvPr/>
        </p:nvSpPr>
        <p:spPr>
          <a:xfrm>
            <a:off x="548640" y="3840480"/>
            <a:ext cx="8046720" cy="731520"/>
          </a:xfrm>
          <a:prstGeom prst="roundRect">
            <a:avLst>
              <a:gd name="adj" fmla="val 10000"/>
            </a:avLst>
          </a:prstGeom>
          <a:solidFill>
            <a:schemeClr val="tx1"/>
          </a:solidFill>
          <a:ln w="12700">
            <a:solidFill>
              <a:schemeClr val="tx1"/>
            </a:solidFill>
            <a:prstDash val="solid"/>
          </a:ln>
        </p:spPr>
      </p:sp>
      <p:sp>
        <p:nvSpPr>
          <p:cNvPr id="24" name="Example text"/>
          <p:cNvSpPr txBox="1"/>
          <p:nvPr/>
        </p:nvSpPr>
        <p:spPr>
          <a:xfrm>
            <a:off x="822960" y="3840480"/>
            <a:ext cx="7498080" cy="731520"/>
          </a:xfrm>
          <a:prstGeom prst="rect">
            <a:avLst/>
          </a:prstGeom>
          <a:noFill/>
          <a:ln/>
        </p:spPr>
        <p:txBody>
          <a:bodyPr wrap="square" lIns="0" tIns="0" rIns="0" bIns="0" rtlCol="0" anchor="ctr"/>
          <a:lstStyle/>
          <a:p>
            <a:pPr indent="0" marL="0">
              <a:buNone/>
            </a:pPr>
            <a:r>
              <a:rPr lang="en-US" sz="1600" i="1" dirty="0">
                <a:solidFill>
                  <a:schemeClr val="bg1"/>
                </a:solidFill>
              </a:rPr>
              <a:t>"2-input USB audio interface with phantom power, under ₹15k"</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 lands in your inbox</a:t>
            </a:r>
            <a:endParaRPr lang="en-US" sz="3000" dirty="0"/>
          </a:p>
        </p:txBody>
      </p:sp>
      <p:sp>
        <p:nvSpPr>
          <p:cNvPr id="3" name="Email card"/>
          <p:cNvSpPr/>
          <p:nvPr/>
        </p:nvSpPr>
        <p:spPr>
          <a:xfrm>
            <a:off x="548640" y="1280160"/>
            <a:ext cx="5120640" cy="3291840"/>
          </a:xfrm>
          <a:prstGeom prst="roundRect">
            <a:avLst>
              <a:gd name="adj" fmla="val 2222"/>
            </a:avLst>
          </a:prstGeom>
          <a:solidFill>
            <a:srgbClr val="F4F7F5"/>
          </a:solidFill>
          <a:ln w="12700">
            <a:solidFill>
              <a:srgbClr val="F4F7F5"/>
            </a:solidFill>
            <a:prstDash val="solid"/>
          </a:ln>
        </p:spPr>
      </p:sp>
      <p:sp>
        <p:nvSpPr>
          <p:cNvPr id="4" name="Email subject"/>
          <p:cNvSpPr txBox="1"/>
          <p:nvPr/>
        </p:nvSpPr>
        <p:spPr>
          <a:xfrm>
            <a:off x="777240" y="1417320"/>
            <a:ext cx="4663440" cy="320040"/>
          </a:xfrm>
          <a:prstGeom prst="rect">
            <a:avLst/>
          </a:prstGeom>
          <a:noFill/>
          <a:ln/>
        </p:spPr>
        <p:txBody>
          <a:bodyPr wrap="square" lIns="0" tIns="0" rIns="0" bIns="0" rtlCol="0" anchor="ctr"/>
          <a:lstStyle/>
          <a:p>
            <a:pPr indent="0" marL="0">
              <a:buNone/>
            </a:pPr>
            <a:r>
              <a:rPr lang="en-US" sz="1400" b="1" dirty="0">
                <a:solidFill>
                  <a:schemeClr val="tx1"/>
                </a:solidFill>
              </a:rPr>
              <a:t>DealScout digest: audio interface under ₹15,000</a:t>
            </a:r>
            <a:endParaRPr lang="en-US" sz="1400" dirty="0"/>
          </a:p>
        </p:txBody>
      </p:sp>
      <p:sp>
        <p:nvSpPr>
          <p:cNvPr id="5" name="Tag 1"/>
          <p:cNvSpPr/>
          <p:nvPr/>
        </p:nvSpPr>
        <p:spPr>
          <a:xfrm>
            <a:off x="777240" y="1920240"/>
            <a:ext cx="914400" cy="292608"/>
          </a:xfrm>
          <a:prstGeom prst="roundRect">
            <a:avLst>
              <a:gd name="adj" fmla="val 18750"/>
            </a:avLst>
          </a:prstGeom>
          <a:solidFill>
            <a:schemeClr val="accent1"/>
          </a:solidFill>
          <a:ln w="12700">
            <a:solidFill>
              <a:schemeClr val="accent1"/>
            </a:solidFill>
            <a:prstDash val="solid"/>
          </a:ln>
        </p:spPr>
      </p:sp>
      <p:sp>
        <p:nvSpPr>
          <p:cNvPr id="6" name="Tag label 1"/>
          <p:cNvSpPr txBox="1"/>
          <p:nvPr/>
        </p:nvSpPr>
        <p:spPr>
          <a:xfrm>
            <a:off x="777240" y="1920240"/>
            <a:ext cx="914400" cy="292608"/>
          </a:xfrm>
          <a:prstGeom prst="rect">
            <a:avLst/>
          </a:prstGeom>
          <a:noFill/>
          <a:ln/>
        </p:spPr>
        <p:txBody>
          <a:bodyPr wrap="square" lIns="0" tIns="0" rIns="0" bIns="0" rtlCol="0" anchor="ctr"/>
          <a:lstStyle/>
          <a:p>
            <a:pPr algn="ctr" indent="0" marL="0">
              <a:buNone/>
            </a:pPr>
            <a:r>
              <a:rPr lang="en-US" sz="1100" b="1" dirty="0">
                <a:solidFill>
                  <a:schemeClr val="bg1"/>
                </a:solidFill>
              </a:rPr>
              <a:t>BUY NOW</a:t>
            </a:r>
            <a:endParaRPr lang="en-US" sz="1100" dirty="0"/>
          </a:p>
        </p:txBody>
      </p:sp>
      <p:sp>
        <p:nvSpPr>
          <p:cNvPr id="7" name="Product 1"/>
          <p:cNvSpPr txBox="1"/>
          <p:nvPr/>
        </p:nvSpPr>
        <p:spPr>
          <a:xfrm>
            <a:off x="1828800" y="1920240"/>
            <a:ext cx="3657600" cy="292608"/>
          </a:xfrm>
          <a:prstGeom prst="rect">
            <a:avLst/>
          </a:prstGeom>
          <a:noFill/>
          <a:ln/>
        </p:spPr>
        <p:txBody>
          <a:bodyPr wrap="square" lIns="0" tIns="0" rIns="0" bIns="0" rtlCol="0" anchor="ctr"/>
          <a:lstStyle/>
          <a:p>
            <a:pPr indent="0" marL="0">
              <a:buNone/>
            </a:pPr>
            <a:r>
              <a:rPr lang="en-US" sz="1400" b="1" dirty="0">
                <a:solidFill>
                  <a:schemeClr val="tx1"/>
                </a:solidFill>
              </a:rPr>
              <a:t>Behringer UMC204HD · ₹9,499</a:t>
            </a:r>
            <a:endParaRPr lang="en-US" sz="1400" dirty="0"/>
          </a:p>
        </p:txBody>
      </p:sp>
      <p:sp>
        <p:nvSpPr>
          <p:cNvPr id="8" name="Reason 1"/>
          <p:cNvSpPr txBox="1"/>
          <p:nvPr/>
        </p:nvSpPr>
        <p:spPr>
          <a:xfrm>
            <a:off x="1828800" y="2267712"/>
            <a:ext cx="3657600" cy="365760"/>
          </a:xfrm>
          <a:prstGeom prst="rect">
            <a:avLst/>
          </a:prstGeom>
          <a:noFill/>
          <a:ln/>
        </p:spPr>
        <p:txBody>
          <a:bodyPr wrap="square" lIns="0" tIns="0" rIns="0" bIns="0" rtlCol="0" anchor="t"/>
          <a:lstStyle/>
          <a:p>
            <a:pPr indent="0" marL="0">
              <a:buNone/>
            </a:pPr>
            <a:r>
              <a:rPr lang="en-US" sz="1200" dirty="0">
                <a:solidFill>
                  <a:schemeClr val="tx2"/>
                </a:solidFill>
              </a:rPr>
              <a:t>Lowest price in 60 days</a:t>
            </a:r>
            <a:endParaRPr lang="en-US" sz="1200" dirty="0"/>
          </a:p>
        </p:txBody>
      </p:sp>
      <p:sp>
        <p:nvSpPr>
          <p:cNvPr id="9" name="Tag 2"/>
          <p:cNvSpPr/>
          <p:nvPr/>
        </p:nvSpPr>
        <p:spPr>
          <a:xfrm>
            <a:off x="777240" y="2788920"/>
            <a:ext cx="914400" cy="292608"/>
          </a:xfrm>
          <a:prstGeom prst="roundRect">
            <a:avLst>
              <a:gd name="adj" fmla="val 18750"/>
            </a:avLst>
          </a:prstGeom>
          <a:solidFill>
            <a:schemeClr val="accent1"/>
          </a:solidFill>
          <a:ln w="12700">
            <a:solidFill>
              <a:schemeClr val="accent1"/>
            </a:solidFill>
            <a:prstDash val="solid"/>
          </a:ln>
        </p:spPr>
      </p:sp>
      <p:sp>
        <p:nvSpPr>
          <p:cNvPr id="10" name="Tag label 2"/>
          <p:cNvSpPr txBox="1"/>
          <p:nvPr/>
        </p:nvSpPr>
        <p:spPr>
          <a:xfrm>
            <a:off x="777240" y="2788920"/>
            <a:ext cx="914400" cy="292608"/>
          </a:xfrm>
          <a:prstGeom prst="rect">
            <a:avLst/>
          </a:prstGeom>
          <a:noFill/>
          <a:ln/>
        </p:spPr>
        <p:txBody>
          <a:bodyPr wrap="square" lIns="0" tIns="0" rIns="0" bIns="0" rtlCol="0" anchor="ctr"/>
          <a:lstStyle/>
          <a:p>
            <a:pPr algn="ctr" indent="0" marL="0">
              <a:buNone/>
            </a:pPr>
            <a:r>
              <a:rPr lang="en-US" sz="1100" b="1" dirty="0">
                <a:solidFill>
                  <a:schemeClr val="bg1"/>
                </a:solidFill>
              </a:rPr>
              <a:t>BUY NOW</a:t>
            </a:r>
            <a:endParaRPr lang="en-US" sz="1100" dirty="0"/>
          </a:p>
        </p:txBody>
      </p:sp>
      <p:sp>
        <p:nvSpPr>
          <p:cNvPr id="11" name="Product 2"/>
          <p:cNvSpPr txBox="1"/>
          <p:nvPr/>
        </p:nvSpPr>
        <p:spPr>
          <a:xfrm>
            <a:off x="1828800" y="2788920"/>
            <a:ext cx="3657600" cy="292608"/>
          </a:xfrm>
          <a:prstGeom prst="rect">
            <a:avLst/>
          </a:prstGeom>
          <a:noFill/>
          <a:ln/>
        </p:spPr>
        <p:txBody>
          <a:bodyPr wrap="square" lIns="0" tIns="0" rIns="0" bIns="0" rtlCol="0" anchor="ctr"/>
          <a:lstStyle/>
          <a:p>
            <a:pPr indent="0" marL="0">
              <a:buNone/>
            </a:pPr>
            <a:r>
              <a:rPr lang="en-US" sz="1400" b="1" dirty="0">
                <a:solidFill>
                  <a:schemeClr val="tx1"/>
                </a:solidFill>
              </a:rPr>
              <a:t>Focusrite Scarlett 2i2 · ₹11,999</a:t>
            </a:r>
            <a:endParaRPr lang="en-US" sz="1400" dirty="0"/>
          </a:p>
        </p:txBody>
      </p:sp>
      <p:sp>
        <p:nvSpPr>
          <p:cNvPr id="12" name="Reason 2"/>
          <p:cNvSpPr txBox="1"/>
          <p:nvPr/>
        </p:nvSpPr>
        <p:spPr>
          <a:xfrm>
            <a:off x="1828800" y="3136392"/>
            <a:ext cx="3657600" cy="365760"/>
          </a:xfrm>
          <a:prstGeom prst="rect">
            <a:avLst/>
          </a:prstGeom>
          <a:noFill/>
          <a:ln/>
        </p:spPr>
        <p:txBody>
          <a:bodyPr wrap="square" lIns="0" tIns="0" rIns="0" bIns="0" rtlCol="0" anchor="t"/>
          <a:lstStyle/>
          <a:p>
            <a:pPr indent="0" marL="0">
              <a:buNone/>
            </a:pPr>
            <a:r>
              <a:rPr lang="en-US" sz="1200" dirty="0">
                <a:solidFill>
                  <a:schemeClr val="tx2"/>
                </a:solidFill>
              </a:rPr>
              <a:t>Real low, but the 33% banner is inflated</a:t>
            </a:r>
            <a:endParaRPr lang="en-US" sz="1200" dirty="0"/>
          </a:p>
        </p:txBody>
      </p:sp>
      <p:sp>
        <p:nvSpPr>
          <p:cNvPr id="13" name="Tag 3"/>
          <p:cNvSpPr/>
          <p:nvPr/>
        </p:nvSpPr>
        <p:spPr>
          <a:xfrm>
            <a:off x="777240" y="3657600"/>
            <a:ext cx="914400" cy="292608"/>
          </a:xfrm>
          <a:prstGeom prst="roundRect">
            <a:avLst>
              <a:gd name="adj" fmla="val 18750"/>
            </a:avLst>
          </a:prstGeom>
          <a:solidFill>
            <a:schemeClr val="accent2"/>
          </a:solidFill>
          <a:ln w="12700">
            <a:solidFill>
              <a:schemeClr val="accent2"/>
            </a:solidFill>
            <a:prstDash val="solid"/>
          </a:ln>
        </p:spPr>
      </p:sp>
      <p:sp>
        <p:nvSpPr>
          <p:cNvPr id="14" name="Tag label 3"/>
          <p:cNvSpPr txBox="1"/>
          <p:nvPr/>
        </p:nvSpPr>
        <p:spPr>
          <a:xfrm>
            <a:off x="777240" y="3657600"/>
            <a:ext cx="914400" cy="292608"/>
          </a:xfrm>
          <a:prstGeom prst="rect">
            <a:avLst/>
          </a:prstGeom>
          <a:noFill/>
          <a:ln/>
        </p:spPr>
        <p:txBody>
          <a:bodyPr wrap="square" lIns="0" tIns="0" rIns="0" bIns="0" rtlCol="0" anchor="ctr"/>
          <a:lstStyle/>
          <a:p>
            <a:pPr algn="ctr" indent="0" marL="0">
              <a:buNone/>
            </a:pPr>
            <a:r>
              <a:rPr lang="en-US" sz="1100" b="1" dirty="0">
                <a:solidFill>
                  <a:schemeClr val="bg1"/>
                </a:solidFill>
              </a:rPr>
              <a:t>WAIT</a:t>
            </a:r>
            <a:endParaRPr lang="en-US" sz="1100" dirty="0"/>
          </a:p>
        </p:txBody>
      </p:sp>
      <p:sp>
        <p:nvSpPr>
          <p:cNvPr id="15" name="Product 3"/>
          <p:cNvSpPr txBox="1"/>
          <p:nvPr/>
        </p:nvSpPr>
        <p:spPr>
          <a:xfrm>
            <a:off x="1828800" y="3657600"/>
            <a:ext cx="3657600" cy="292608"/>
          </a:xfrm>
          <a:prstGeom prst="rect">
            <a:avLst/>
          </a:prstGeom>
          <a:noFill/>
          <a:ln/>
        </p:spPr>
        <p:txBody>
          <a:bodyPr wrap="square" lIns="0" tIns="0" rIns="0" bIns="0" rtlCol="0" anchor="ctr"/>
          <a:lstStyle/>
          <a:p>
            <a:pPr indent="0" marL="0">
              <a:buNone/>
            </a:pPr>
            <a:r>
              <a:rPr lang="en-US" sz="1400" b="1" dirty="0">
                <a:solidFill>
                  <a:schemeClr val="tx1"/>
                </a:solidFill>
              </a:rPr>
              <a:t>PreSonus AudioBox · ₹8,499</a:t>
            </a:r>
            <a:endParaRPr lang="en-US" sz="1400" dirty="0"/>
          </a:p>
        </p:txBody>
      </p:sp>
      <p:sp>
        <p:nvSpPr>
          <p:cNvPr id="16" name="Reason 3"/>
          <p:cNvSpPr txBox="1"/>
          <p:nvPr/>
        </p:nvSpPr>
        <p:spPr>
          <a:xfrm>
            <a:off x="1828800" y="4005072"/>
            <a:ext cx="3657600" cy="365760"/>
          </a:xfrm>
          <a:prstGeom prst="rect">
            <a:avLst/>
          </a:prstGeom>
          <a:noFill/>
          <a:ln/>
        </p:spPr>
        <p:txBody>
          <a:bodyPr wrap="square" lIns="0" tIns="0" rIns="0" bIns="0" rtlCol="0" anchor="t"/>
          <a:lstStyle/>
          <a:p>
            <a:pPr indent="0" marL="0">
              <a:buNone/>
            </a:pPr>
            <a:r>
              <a:rPr lang="en-US" sz="1200" dirty="0">
                <a:solidFill>
                  <a:schemeClr val="tx2"/>
                </a:solidFill>
              </a:rPr>
              <a:t>Claims 35% off. Never sold above ₹8,699.</a:t>
            </a:r>
            <a:endParaRPr lang="en-US" sz="1200" dirty="0"/>
          </a:p>
        </p:txBody>
      </p:sp>
      <p:sp>
        <p:nvSpPr>
          <p:cNvPr id="17" name="Side heading"/>
          <p:cNvSpPr txBox="1"/>
          <p:nvPr/>
        </p:nvSpPr>
        <p:spPr>
          <a:xfrm>
            <a:off x="6126480" y="1371600"/>
            <a:ext cx="2468880" cy="82296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Short, with a reason for every call</a:t>
            </a:r>
            <a:endParaRPr lang="en-US" sz="2400" dirty="0"/>
          </a:p>
        </p:txBody>
      </p:sp>
      <p:sp>
        <p:nvSpPr>
          <p:cNvPr id="18" name="Side list"/>
          <p:cNvSpPr txBox="1"/>
          <p:nvPr/>
        </p:nvSpPr>
        <p:spPr>
          <a:xfrm>
            <a:off x="6126480" y="2331720"/>
            <a:ext cx="246888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What's at its lowest</a:t>
            </a:r>
            <a:endParaRPr lang="en-US" sz="1400" dirty="0"/>
          </a:p>
          <a:p>
            <a:pPr marL="342900" indent="-342900">
              <a:spcAft>
                <a:spcPts val="600"/>
              </a:spcAft>
              <a:buSzPct val="100000"/>
              <a:buChar char="•"/>
            </a:pPr>
            <a:r>
              <a:rPr lang="en-US" sz="1400" dirty="0">
                <a:solidFill>
                  <a:schemeClr val="tx2"/>
                </a:solidFill>
              </a:rPr>
              <a:t>What to buy now</a:t>
            </a:r>
            <a:endParaRPr lang="en-US" sz="1400" dirty="0"/>
          </a:p>
          <a:p>
            <a:pPr marL="342900" indent="-342900">
              <a:spcAft>
                <a:spcPts val="600"/>
              </a:spcAft>
              <a:buSzPct val="100000"/>
              <a:buChar char="•"/>
            </a:pPr>
            <a:r>
              <a:rPr lang="en-US" sz="1400" dirty="0">
                <a:solidFill>
                  <a:schemeClr val="tx2"/>
                </a:solidFill>
              </a:rPr>
              <a:t>What to wait on</a:t>
            </a:r>
            <a:endParaRPr lang="en-US" sz="1400" dirty="0"/>
          </a:p>
          <a:p>
            <a:pPr marL="342900" indent="-342900">
              <a:spcAft>
                <a:spcPts val="600"/>
              </a:spcAft>
              <a:buSzPct val="100000"/>
              <a:buChar char="•"/>
            </a:pPr>
            <a:r>
              <a:rPr lang="en-US" sz="1400" dirty="0">
                <a:solidFill>
                  <a:schemeClr val="tx2"/>
                </a:solidFill>
              </a:rPr>
              <a:t>Which discounts are fake</a:t>
            </a:r>
            <a:endParaRPr lang="en-US" sz="1400" dirty="0"/>
          </a:p>
        </p:txBody>
      </p:sp>
      <p:sp>
        <p:nvSpPr>
          <p:cNvPr id="19" name="Caption"/>
          <p:cNvSpPr txBox="1"/>
          <p:nvPr/>
        </p:nvSpPr>
        <p:spPr>
          <a:xfrm>
            <a:off x="6126480" y="4251960"/>
            <a:ext cx="2468880" cy="274320"/>
          </a:xfrm>
          <a:prstGeom prst="rect">
            <a:avLst/>
          </a:prstGeom>
          <a:noFill/>
          <a:ln/>
        </p:spPr>
        <p:txBody>
          <a:bodyPr wrap="square" lIns="0" tIns="0" rIns="0" bIns="0" rtlCol="0" anchor="ctr"/>
          <a:lstStyle/>
          <a:p>
            <a:pPr indent="0" marL="0">
              <a:buNone/>
            </a:pPr>
            <a:r>
              <a:rPr lang="en-US" sz="1100" i="1" dirty="0">
                <a:solidFill>
                  <a:schemeClr val="accent4"/>
                </a:solidFill>
              </a:rPr>
              <a:t>Prototype output on test data</a:t>
            </a:r>
            <a:endParaRPr lang="en-US" sz="11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A 35% discount on a price that never moved</a:t>
            </a:r>
            <a:endParaRPr lang="en-US" sz="3000" dirty="0"/>
          </a:p>
        </p:txBody>
      </p:sp>
      <p:graphicFrame>
        <p:nvGraphicFramePr>
          <p:cNvPr id="3" name="Chart 0" descr=""/>
          <p:cNvGraphicFramePr/>
          <p:nvPr/>
        </p:nvGraphicFramePr>
        <p:xfrm>
          <a:off x="457200" y="1280160"/>
          <a:ext cx="5394960" cy="3383280"/>
        </p:xfrm>
        <a:graphic xmlns:a="http://schemas.openxmlformats.org/drawingml/2006/main">
          <a:graphicData uri="http://schemas.openxmlformats.org/drawingml/2006/chart">
            <c:chart xmlns:c="http://schemas.openxmlformats.org/drawingml/2006/chart" r:id="rId1"/>
          </a:graphicData>
        </a:graphic>
      </p:graphicFrame>
      <p:sp>
        <p:nvSpPr>
          <p:cNvPr id="4" name="Fact label 1"/>
          <p:cNvSpPr txBox="1"/>
          <p:nvPr/>
        </p:nvSpPr>
        <p:spPr>
          <a:xfrm>
            <a:off x="6217920" y="1463040"/>
            <a:ext cx="2377440" cy="228600"/>
          </a:xfrm>
          <a:prstGeom prst="rect">
            <a:avLst/>
          </a:prstGeom>
          <a:noFill/>
          <a:ln/>
        </p:spPr>
        <p:txBody>
          <a:bodyPr wrap="square" lIns="0" tIns="0" rIns="0" bIns="0" rtlCol="0" anchor="ctr"/>
          <a:lstStyle/>
          <a:p>
            <a:pPr indent="0" marL="0">
              <a:buNone/>
            </a:pPr>
            <a:r>
              <a:rPr lang="en-US" sz="1100" b="1" spc="200" kern="0" dirty="0">
                <a:solidFill>
                  <a:schemeClr val="accent4"/>
                </a:solidFill>
              </a:rPr>
              <a:t>STORE CLAIMS</a:t>
            </a:r>
            <a:endParaRPr lang="en-US" sz="1100" dirty="0"/>
          </a:p>
        </p:txBody>
      </p:sp>
      <p:sp>
        <p:nvSpPr>
          <p:cNvPr id="5" name="Fact value 1"/>
          <p:cNvSpPr txBox="1"/>
          <p:nvPr/>
        </p:nvSpPr>
        <p:spPr>
          <a:xfrm>
            <a:off x="6217920" y="1719072"/>
            <a:ext cx="2377440" cy="64008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35% off ₹12,999</a:t>
            </a:r>
            <a:endParaRPr lang="en-US" sz="1800" dirty="0"/>
          </a:p>
        </p:txBody>
      </p:sp>
      <p:sp>
        <p:nvSpPr>
          <p:cNvPr id="6" name="Fact label 2"/>
          <p:cNvSpPr txBox="1"/>
          <p:nvPr/>
        </p:nvSpPr>
        <p:spPr>
          <a:xfrm>
            <a:off x="6217920" y="2514600"/>
            <a:ext cx="2377440" cy="228600"/>
          </a:xfrm>
          <a:prstGeom prst="rect">
            <a:avLst/>
          </a:prstGeom>
          <a:noFill/>
          <a:ln/>
        </p:spPr>
        <p:txBody>
          <a:bodyPr wrap="square" lIns="0" tIns="0" rIns="0" bIns="0" rtlCol="0" anchor="ctr"/>
          <a:lstStyle/>
          <a:p>
            <a:pPr indent="0" marL="0">
              <a:buNone/>
            </a:pPr>
            <a:r>
              <a:rPr lang="en-US" sz="1100" b="1" spc="200" kern="0" dirty="0">
                <a:solidFill>
                  <a:schemeClr val="accent4"/>
                </a:solidFill>
              </a:rPr>
              <a:t>REALITY</a:t>
            </a:r>
            <a:endParaRPr lang="en-US" sz="1100" dirty="0"/>
          </a:p>
        </p:txBody>
      </p:sp>
      <p:sp>
        <p:nvSpPr>
          <p:cNvPr id="7" name="Fact value 2"/>
          <p:cNvSpPr txBox="1"/>
          <p:nvPr/>
        </p:nvSpPr>
        <p:spPr>
          <a:xfrm>
            <a:off x="6217920" y="2770632"/>
            <a:ext cx="2377440" cy="6400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₹8,199 to ₹8,699 for 60 days</a:t>
            </a:r>
            <a:endParaRPr lang="en-US" sz="1800" dirty="0"/>
          </a:p>
        </p:txBody>
      </p:sp>
      <p:sp>
        <p:nvSpPr>
          <p:cNvPr id="8" name="Fact label 3"/>
          <p:cNvSpPr txBox="1"/>
          <p:nvPr/>
        </p:nvSpPr>
        <p:spPr>
          <a:xfrm>
            <a:off x="6217920" y="3566160"/>
            <a:ext cx="2377440" cy="228600"/>
          </a:xfrm>
          <a:prstGeom prst="rect">
            <a:avLst/>
          </a:prstGeom>
          <a:noFill/>
          <a:ln/>
        </p:spPr>
        <p:txBody>
          <a:bodyPr wrap="square" lIns="0" tIns="0" rIns="0" bIns="0" rtlCol="0" anchor="ctr"/>
          <a:lstStyle/>
          <a:p>
            <a:pPr indent="0" marL="0">
              <a:buNone/>
            </a:pPr>
            <a:r>
              <a:rPr lang="en-US" sz="1100" b="1" spc="200" kern="0" dirty="0">
                <a:solidFill>
                  <a:schemeClr val="accent4"/>
                </a:solidFill>
              </a:rPr>
              <a:t>DEALSCOUT SAYS</a:t>
            </a:r>
            <a:endParaRPr lang="en-US" sz="1100" dirty="0"/>
          </a:p>
        </p:txBody>
      </p:sp>
      <p:sp>
        <p:nvSpPr>
          <p:cNvPr id="9" name="Fact value 3"/>
          <p:cNvSpPr txBox="1"/>
          <p:nvPr/>
        </p:nvSpPr>
        <p:spPr>
          <a:xfrm>
            <a:off x="6217920" y="3822192"/>
            <a:ext cx="2377440" cy="6400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Wait. Not a real deal.</a:t>
            </a:r>
            <a:endParaRPr lang="en-US" sz="18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Built on Gemini and Google Cloud</a:t>
            </a:r>
            <a:endParaRPr lang="en-US" sz="3000" dirty="0"/>
          </a:p>
        </p:txBody>
      </p:sp>
      <p:sp>
        <p:nvSpPr>
          <p:cNvPr id="3" name="Box Cloud Scheduler"/>
          <p:cNvSpPr/>
          <p:nvPr/>
        </p:nvSpPr>
        <p:spPr>
          <a:xfrm>
            <a:off x="548640" y="1600200"/>
            <a:ext cx="1463040" cy="1828800"/>
          </a:xfrm>
          <a:prstGeom prst="roundRect">
            <a:avLst>
              <a:gd name="adj" fmla="val 5000"/>
            </a:avLst>
          </a:prstGeom>
          <a:solidFill>
            <a:schemeClr val="bg2"/>
          </a:solidFill>
          <a:ln w="12700">
            <a:solidFill>
              <a:schemeClr val="bg2"/>
            </a:solidFill>
            <a:prstDash val="solid"/>
          </a:ln>
        </p:spPr>
      </p:sp>
      <p:sp>
        <p:nvSpPr>
          <p:cNvPr id="4" name="Box title Cloud Scheduler"/>
          <p:cNvSpPr txBox="1"/>
          <p:nvPr/>
        </p:nvSpPr>
        <p:spPr>
          <a:xfrm>
            <a:off x="685800"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Cloud Scheduler</a:t>
            </a:r>
            <a:endParaRPr lang="en-US" sz="1500" dirty="0"/>
          </a:p>
        </p:txBody>
      </p:sp>
      <p:sp>
        <p:nvSpPr>
          <p:cNvPr id="5" name="Box body Cloud Scheduler"/>
          <p:cNvSpPr txBox="1"/>
          <p:nvPr/>
        </p:nvSpPr>
        <p:spPr>
          <a:xfrm>
            <a:off x="685800"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Triggers the daily run</a:t>
            </a:r>
            <a:endParaRPr lang="en-US" sz="1200" dirty="0"/>
          </a:p>
        </p:txBody>
      </p:sp>
      <p:sp>
        <p:nvSpPr>
          <p:cNvPr id="6" name="Box status Cloud Scheduler"/>
          <p:cNvSpPr txBox="1"/>
          <p:nvPr/>
        </p:nvSpPr>
        <p:spPr>
          <a:xfrm>
            <a:off x="685800"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7" name="Arrow 1"/>
          <p:cNvSpPr txBox="1"/>
          <p:nvPr/>
        </p:nvSpPr>
        <p:spPr>
          <a:xfrm>
            <a:off x="2011680"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8" name="Box Cloud Run"/>
          <p:cNvSpPr/>
          <p:nvPr/>
        </p:nvSpPr>
        <p:spPr>
          <a:xfrm>
            <a:off x="2176272" y="1600200"/>
            <a:ext cx="1463040" cy="1828800"/>
          </a:xfrm>
          <a:prstGeom prst="roundRect">
            <a:avLst>
              <a:gd name="adj" fmla="val 5000"/>
            </a:avLst>
          </a:prstGeom>
          <a:solidFill>
            <a:schemeClr val="bg2"/>
          </a:solidFill>
          <a:ln w="12700">
            <a:solidFill>
              <a:schemeClr val="bg2"/>
            </a:solidFill>
            <a:prstDash val="solid"/>
          </a:ln>
        </p:spPr>
      </p:sp>
      <p:sp>
        <p:nvSpPr>
          <p:cNvPr id="9" name="Box title Cloud Run"/>
          <p:cNvSpPr txBox="1"/>
          <p:nvPr/>
        </p:nvSpPr>
        <p:spPr>
          <a:xfrm>
            <a:off x="2313432"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Cloud Run</a:t>
            </a:r>
            <a:endParaRPr lang="en-US" sz="1500" dirty="0"/>
          </a:p>
        </p:txBody>
      </p:sp>
      <p:sp>
        <p:nvSpPr>
          <p:cNvPr id="10" name="Box body Cloud Run"/>
          <p:cNvSpPr txBox="1"/>
          <p:nvPr/>
        </p:nvSpPr>
        <p:spPr>
          <a:xfrm>
            <a:off x="2313432"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Runs the scout service</a:t>
            </a:r>
            <a:endParaRPr lang="en-US" sz="1200" dirty="0"/>
          </a:p>
        </p:txBody>
      </p:sp>
      <p:sp>
        <p:nvSpPr>
          <p:cNvPr id="11" name="Box status Cloud Run"/>
          <p:cNvSpPr txBox="1"/>
          <p:nvPr/>
        </p:nvSpPr>
        <p:spPr>
          <a:xfrm>
            <a:off x="2313432"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12" name="Arrow 2"/>
          <p:cNvSpPr txBox="1"/>
          <p:nvPr/>
        </p:nvSpPr>
        <p:spPr>
          <a:xfrm>
            <a:off x="3639312"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13" name="Box Gemini"/>
          <p:cNvSpPr/>
          <p:nvPr/>
        </p:nvSpPr>
        <p:spPr>
          <a:xfrm>
            <a:off x="3803904" y="1600200"/>
            <a:ext cx="1463040" cy="1828800"/>
          </a:xfrm>
          <a:prstGeom prst="roundRect">
            <a:avLst>
              <a:gd name="adj" fmla="val 5000"/>
            </a:avLst>
          </a:prstGeom>
          <a:solidFill>
            <a:schemeClr val="accent1"/>
          </a:solidFill>
          <a:ln w="12700">
            <a:solidFill>
              <a:schemeClr val="accent1"/>
            </a:solidFill>
            <a:prstDash val="solid"/>
          </a:ln>
        </p:spPr>
      </p:sp>
      <p:sp>
        <p:nvSpPr>
          <p:cNvPr id="14" name="Box title Gemini"/>
          <p:cNvSpPr txBox="1"/>
          <p:nvPr/>
        </p:nvSpPr>
        <p:spPr>
          <a:xfrm>
            <a:off x="3941064" y="1783080"/>
            <a:ext cx="1188720" cy="320040"/>
          </a:xfrm>
          <a:prstGeom prst="rect">
            <a:avLst/>
          </a:prstGeom>
          <a:noFill/>
          <a:ln/>
        </p:spPr>
        <p:txBody>
          <a:bodyPr wrap="square" lIns="0" tIns="0" rIns="0" bIns="0" rtlCol="0" anchor="ctr"/>
          <a:lstStyle/>
          <a:p>
            <a:pPr indent="0" marL="0">
              <a:buNone/>
            </a:pPr>
            <a:r>
              <a:rPr lang="en-US" sz="1500" b="1" dirty="0">
                <a:solidFill>
                  <a:schemeClr val="bg1"/>
                </a:solidFill>
              </a:rPr>
              <a:t>Gemini</a:t>
            </a:r>
            <a:endParaRPr lang="en-US" sz="1500" dirty="0"/>
          </a:p>
        </p:txBody>
      </p:sp>
      <p:sp>
        <p:nvSpPr>
          <p:cNvPr id="15" name="Box body Gemini"/>
          <p:cNvSpPr txBox="1"/>
          <p:nvPr/>
        </p:nvSpPr>
        <p:spPr>
          <a:xfrm>
            <a:off x="3941064" y="2194560"/>
            <a:ext cx="1188720" cy="777240"/>
          </a:xfrm>
          <a:prstGeom prst="rect">
            <a:avLst/>
          </a:prstGeom>
          <a:noFill/>
          <a:ln/>
        </p:spPr>
        <p:txBody>
          <a:bodyPr wrap="square" lIns="0" tIns="0" rIns="0" bIns="0" rtlCol="0" anchor="t"/>
          <a:lstStyle/>
          <a:p>
            <a:pPr indent="0" marL="0">
              <a:buNone/>
            </a:pPr>
            <a:r>
              <a:rPr lang="en-US" sz="1200" dirty="0">
                <a:solidFill>
                  <a:schemeClr val="bg1"/>
                </a:solidFill>
              </a:rPr>
              <a:t>Structured output + Google Search grounding</a:t>
            </a:r>
            <a:endParaRPr lang="en-US" sz="1200" dirty="0"/>
          </a:p>
        </p:txBody>
      </p:sp>
      <p:sp>
        <p:nvSpPr>
          <p:cNvPr id="16" name="Box status Gemini"/>
          <p:cNvSpPr txBox="1"/>
          <p:nvPr/>
        </p:nvSpPr>
        <p:spPr>
          <a:xfrm>
            <a:off x="3941064"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6"/>
                </a:solidFill>
              </a:rPr>
              <a:t>BUILT</a:t>
            </a:r>
            <a:endParaRPr lang="en-US" sz="1100" dirty="0"/>
          </a:p>
        </p:txBody>
      </p:sp>
      <p:sp>
        <p:nvSpPr>
          <p:cNvPr id="17" name="Arrow 3"/>
          <p:cNvSpPr txBox="1"/>
          <p:nvPr/>
        </p:nvSpPr>
        <p:spPr>
          <a:xfrm>
            <a:off x="5266944"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18" name="Box Firestore"/>
          <p:cNvSpPr/>
          <p:nvPr/>
        </p:nvSpPr>
        <p:spPr>
          <a:xfrm>
            <a:off x="5431536" y="1600200"/>
            <a:ext cx="1463040" cy="1828800"/>
          </a:xfrm>
          <a:prstGeom prst="roundRect">
            <a:avLst>
              <a:gd name="adj" fmla="val 5000"/>
            </a:avLst>
          </a:prstGeom>
          <a:solidFill>
            <a:schemeClr val="bg2"/>
          </a:solidFill>
          <a:ln w="12700">
            <a:solidFill>
              <a:schemeClr val="bg2"/>
            </a:solidFill>
            <a:prstDash val="solid"/>
          </a:ln>
        </p:spPr>
      </p:sp>
      <p:sp>
        <p:nvSpPr>
          <p:cNvPr id="19" name="Box title Firestore"/>
          <p:cNvSpPr txBox="1"/>
          <p:nvPr/>
        </p:nvSpPr>
        <p:spPr>
          <a:xfrm>
            <a:off x="5568696"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Firestore</a:t>
            </a:r>
            <a:endParaRPr lang="en-US" sz="1500" dirty="0"/>
          </a:p>
        </p:txBody>
      </p:sp>
      <p:sp>
        <p:nvSpPr>
          <p:cNvPr id="20" name="Box body Firestore"/>
          <p:cNvSpPr txBox="1"/>
          <p:nvPr/>
        </p:nvSpPr>
        <p:spPr>
          <a:xfrm>
            <a:off x="5568696"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Daily price history</a:t>
            </a:r>
            <a:endParaRPr lang="en-US" sz="1200" dirty="0"/>
          </a:p>
        </p:txBody>
      </p:sp>
      <p:sp>
        <p:nvSpPr>
          <p:cNvPr id="21" name="Box status Firestore"/>
          <p:cNvSpPr txBox="1"/>
          <p:nvPr/>
        </p:nvSpPr>
        <p:spPr>
          <a:xfrm>
            <a:off x="5568696"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22" name="Arrow 4"/>
          <p:cNvSpPr txBox="1"/>
          <p:nvPr/>
        </p:nvSpPr>
        <p:spPr>
          <a:xfrm>
            <a:off x="6894576"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23" name="Box Email"/>
          <p:cNvSpPr/>
          <p:nvPr/>
        </p:nvSpPr>
        <p:spPr>
          <a:xfrm>
            <a:off x="7059168" y="1600200"/>
            <a:ext cx="1463040" cy="1828800"/>
          </a:xfrm>
          <a:prstGeom prst="roundRect">
            <a:avLst>
              <a:gd name="adj" fmla="val 5000"/>
            </a:avLst>
          </a:prstGeom>
          <a:solidFill>
            <a:schemeClr val="bg2"/>
          </a:solidFill>
          <a:ln w="12700">
            <a:solidFill>
              <a:schemeClr val="bg2"/>
            </a:solidFill>
            <a:prstDash val="solid"/>
          </a:ln>
        </p:spPr>
      </p:sp>
      <p:sp>
        <p:nvSpPr>
          <p:cNvPr id="24" name="Box title Email"/>
          <p:cNvSpPr txBox="1"/>
          <p:nvPr/>
        </p:nvSpPr>
        <p:spPr>
          <a:xfrm>
            <a:off x="7196328"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Email</a:t>
            </a:r>
            <a:endParaRPr lang="en-US" sz="1500" dirty="0"/>
          </a:p>
        </p:txBody>
      </p:sp>
      <p:sp>
        <p:nvSpPr>
          <p:cNvPr id="25" name="Box body Email"/>
          <p:cNvSpPr txBox="1"/>
          <p:nvPr/>
        </p:nvSpPr>
        <p:spPr>
          <a:xfrm>
            <a:off x="7196328"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Firebase email digest</a:t>
            </a:r>
            <a:endParaRPr lang="en-US" sz="1200" dirty="0"/>
          </a:p>
        </p:txBody>
      </p:sp>
      <p:sp>
        <p:nvSpPr>
          <p:cNvPr id="26" name="Box status Email"/>
          <p:cNvSpPr txBox="1"/>
          <p:nvPr/>
        </p:nvSpPr>
        <p:spPr>
          <a:xfrm>
            <a:off x="7196328"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27" name="Interface note"/>
          <p:cNvSpPr txBox="1"/>
          <p:nvPr/>
        </p:nvSpPr>
        <p:spPr>
          <a:xfrm>
            <a:off x="548640" y="3794760"/>
            <a:ext cx="8046720" cy="365760"/>
          </a:xfrm>
          <a:prstGeom prst="rect">
            <a:avLst/>
          </a:prstGeom>
          <a:noFill/>
          <a:ln/>
        </p:spPr>
        <p:txBody>
          <a:bodyPr wrap="square" lIns="0" tIns="0" rIns="0" bIns="0" rtlCol="0" anchor="ctr"/>
          <a:lstStyle/>
          <a:p>
            <a:pPr indent="0" marL="0">
              <a:buNone/>
            </a:pPr>
            <a:r>
              <a:rPr lang="en-US" sz="1600" b="1" dirty="0">
                <a:solidFill>
                  <a:schemeClr val="tx1"/>
                </a:solidFill>
              </a:rPr>
              <a:t>One PriceSource interface: Google Search today, retailer APIs as we scale.</a:t>
            </a:r>
            <a:endParaRPr lang="en-US" sz="1600" dirty="0"/>
          </a:p>
        </p:txBody>
      </p:sp>
      <p:sp>
        <p:nvSpPr>
          <p:cNvPr id="28" name="Prototype note"/>
          <p:cNvSpPr txBox="1"/>
          <p:nvPr/>
        </p:nvSpPr>
        <p:spPr>
          <a:xfrm>
            <a:off x="548640" y="4206240"/>
            <a:ext cx="8046720" cy="320040"/>
          </a:xfrm>
          <a:prstGeom prst="rect">
            <a:avLst/>
          </a:prstGeom>
          <a:noFill/>
          <a:ln/>
        </p:spPr>
        <p:txBody>
          <a:bodyPr wrap="square" lIns="0" tIns="0" rIns="0" bIns="0" rtlCol="0" anchor="ctr"/>
          <a:lstStyle/>
          <a:p>
            <a:pPr indent="0" marL="0">
              <a:buNone/>
            </a:pPr>
            <a:r>
              <a:rPr lang="en-US" sz="1300" dirty="0">
                <a:solidFill>
                  <a:schemeClr val="accent4"/>
                </a:solidFill>
              </a:rPr>
              <a:t>In the prototype, prices are saved to a local file and the digest is written as HTML.</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Working today, and what comes next</a:t>
            </a:r>
            <a:endParaRPr lang="en-US" sz="3000" dirty="0"/>
          </a:p>
        </p:txBody>
      </p:sp>
      <p:sp>
        <p:nvSpPr>
          <p:cNvPr id="3" name="Today card"/>
          <p:cNvSpPr/>
          <p:nvPr/>
        </p:nvSpPr>
        <p:spPr>
          <a:xfrm>
            <a:off x="548640" y="1371600"/>
            <a:ext cx="3931920" cy="3108960"/>
          </a:xfrm>
          <a:prstGeom prst="roundRect">
            <a:avLst>
              <a:gd name="adj" fmla="val 2353"/>
            </a:avLst>
          </a:prstGeom>
          <a:solidFill>
            <a:schemeClr val="bg2"/>
          </a:solidFill>
          <a:ln w="12700">
            <a:solidFill>
              <a:schemeClr val="bg2"/>
            </a:solidFill>
            <a:prstDash val="solid"/>
          </a:ln>
        </p:spPr>
      </p:sp>
      <p:sp>
        <p:nvSpPr>
          <p:cNvPr id="4" name="Today heading"/>
          <p:cNvSpPr txBox="1"/>
          <p:nvPr/>
        </p:nvSpPr>
        <p:spPr>
          <a:xfrm>
            <a:off x="822960" y="1554480"/>
            <a:ext cx="33832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WORKING TODAY</a:t>
            </a:r>
            <a:endParaRPr lang="en-US" sz="1200" dirty="0"/>
          </a:p>
        </p:txBody>
      </p:sp>
      <p:sp>
        <p:nvSpPr>
          <p:cNvPr id="5" name="Today list"/>
          <p:cNvSpPr txBox="1"/>
          <p:nvPr/>
        </p:nvSpPr>
        <p:spPr>
          <a:xfrm>
            <a:off x="822960" y="1920240"/>
            <a:ext cx="33832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Fake-discount and verdict logic, covered by 12 tests</a:t>
            </a:r>
            <a:endParaRPr lang="en-US" sz="1400" dirty="0"/>
          </a:p>
          <a:p>
            <a:pPr marL="342900" indent="-342900">
              <a:spcAft>
                <a:spcPts val="800"/>
              </a:spcAft>
              <a:buSzPct val="100000"/>
              <a:buChar char="•"/>
            </a:pPr>
            <a:r>
              <a:rPr lang="en-US" sz="1400" dirty="0">
                <a:solidFill>
                  <a:schemeClr val="tx1"/>
                </a:solidFill>
              </a:rPr>
              <a:t>Gemini watch spec from plain English</a:t>
            </a:r>
            <a:endParaRPr lang="en-US" sz="1400" dirty="0"/>
          </a:p>
          <a:p>
            <a:pPr marL="342900" indent="-342900">
              <a:spcAft>
                <a:spcPts val="800"/>
              </a:spcAft>
              <a:buSzPct val="100000"/>
              <a:buChar char="•"/>
            </a:pPr>
            <a:r>
              <a:rPr lang="en-US" sz="1400" dirty="0">
                <a:solidFill>
                  <a:schemeClr val="tx1"/>
                </a:solidFill>
              </a:rPr>
              <a:t>Google Search product discovery</a:t>
            </a:r>
            <a:endParaRPr lang="en-US" sz="1400" dirty="0"/>
          </a:p>
          <a:p>
            <a:pPr marL="342900" indent="-342900">
              <a:spcAft>
                <a:spcPts val="800"/>
              </a:spcAft>
              <a:buSzPct val="100000"/>
              <a:buChar char="•"/>
            </a:pPr>
            <a:r>
              <a:rPr lang="en-US" sz="1400" dirty="0">
                <a:solidFill>
                  <a:schemeClr val="tx1"/>
                </a:solidFill>
              </a:rPr>
              <a:t>Digest as text and HTML</a:t>
            </a:r>
            <a:endParaRPr lang="en-US" sz="1400" dirty="0"/>
          </a:p>
        </p:txBody>
      </p:sp>
      <p:sp>
        <p:nvSpPr>
          <p:cNvPr id="6" name="Test data note"/>
          <p:cNvSpPr txBox="1"/>
          <p:nvPr/>
        </p:nvSpPr>
        <p:spPr>
          <a:xfrm>
            <a:off x="822960" y="4023360"/>
            <a:ext cx="3383280" cy="320040"/>
          </a:xfrm>
          <a:prstGeom prst="rect">
            <a:avLst/>
          </a:prstGeom>
          <a:noFill/>
          <a:ln/>
        </p:spPr>
        <p:txBody>
          <a:bodyPr wrap="square" lIns="0" tIns="0" rIns="0" bIns="0" rtlCol="0" anchor="ctr"/>
          <a:lstStyle/>
          <a:p>
            <a:pPr indent="0" marL="0">
              <a:buNone/>
            </a:pPr>
            <a:r>
              <a:rPr lang="en-US" sz="1200" i="1" dirty="0">
                <a:solidFill>
                  <a:schemeClr val="accent4"/>
                </a:solidFill>
              </a:rPr>
              <a:t>Demo products and history are test data.</a:t>
            </a:r>
            <a:endParaRPr lang="en-US" sz="1200" dirty="0"/>
          </a:p>
        </p:txBody>
      </p:sp>
      <p:sp>
        <p:nvSpPr>
          <p:cNvPr id="7" name="Next card"/>
          <p:cNvSpPr/>
          <p:nvPr/>
        </p:nvSpPr>
        <p:spPr>
          <a:xfrm>
            <a:off x="4663440" y="1371600"/>
            <a:ext cx="3931920" cy="3108960"/>
          </a:xfrm>
          <a:prstGeom prst="roundRect">
            <a:avLst>
              <a:gd name="adj" fmla="val 2353"/>
            </a:avLst>
          </a:prstGeom>
          <a:solidFill>
            <a:schemeClr val="tx1"/>
          </a:solidFill>
          <a:ln w="12700">
            <a:solidFill>
              <a:schemeClr val="tx1"/>
            </a:solidFill>
            <a:prstDash val="solid"/>
          </a:ln>
        </p:spPr>
      </p:sp>
      <p:sp>
        <p:nvSpPr>
          <p:cNvPr id="8" name="Next heading"/>
          <p:cNvSpPr txBox="1"/>
          <p:nvPr/>
        </p:nvSpPr>
        <p:spPr>
          <a:xfrm>
            <a:off x="4937760" y="1554480"/>
            <a:ext cx="338328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NEXT</a:t>
            </a:r>
            <a:endParaRPr lang="en-US" sz="1200" dirty="0"/>
          </a:p>
        </p:txBody>
      </p:sp>
      <p:sp>
        <p:nvSpPr>
          <p:cNvPr id="9" name="Next list"/>
          <p:cNvSpPr txBox="1"/>
          <p:nvPr/>
        </p:nvSpPr>
        <p:spPr>
          <a:xfrm>
            <a:off x="4937760" y="1920240"/>
            <a:ext cx="338328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Deploy on Cloud Run with a daily Scheduler job</a:t>
            </a:r>
            <a:endParaRPr lang="en-US" sz="1400" dirty="0"/>
          </a:p>
          <a:p>
            <a:pPr marL="342900" indent="-342900">
              <a:spcAft>
                <a:spcPts val="800"/>
              </a:spcAft>
              <a:buSzPct val="100000"/>
              <a:buChar char="•"/>
            </a:pPr>
            <a:r>
              <a:rPr lang="en-US" sz="1400" dirty="0">
                <a:solidFill>
                  <a:schemeClr val="bg1"/>
                </a:solidFill>
              </a:rPr>
              <a:t>Store real price history in Firestore</a:t>
            </a:r>
            <a:endParaRPr lang="en-US" sz="1400" dirty="0"/>
          </a:p>
          <a:p>
            <a:pPr marL="342900" indent="-342900">
              <a:spcAft>
                <a:spcPts val="800"/>
              </a:spcAft>
              <a:buSzPct val="100000"/>
              <a:buChar char="•"/>
            </a:pPr>
            <a:r>
              <a:rPr lang="en-US" sz="1400" dirty="0">
                <a:solidFill>
                  <a:schemeClr val="bg1"/>
                </a:solidFill>
              </a:rPr>
              <a:t>Send the digest by email</a:t>
            </a:r>
            <a:endParaRPr lang="en-US" sz="1400" dirty="0"/>
          </a:p>
          <a:p>
            <a:pPr marL="342900" indent="-342900">
              <a:spcAft>
                <a:spcPts val="800"/>
              </a:spcAft>
              <a:buSzPct val="100000"/>
              <a:buChar char="•"/>
            </a:pPr>
            <a:r>
              <a:rPr lang="en-US" sz="1400" dirty="0">
                <a:solidFill>
                  <a:schemeClr val="bg1"/>
                </a:solidFill>
              </a:rPr>
              <a:t>Retailer APIs, more categories</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losing line 1"/>
          <p:cNvSpPr txBox="1"/>
          <p:nvPr/>
        </p:nvSpPr>
        <p:spPr>
          <a:xfrm>
            <a:off x="640080" y="1371600"/>
            <a:ext cx="7863840" cy="822960"/>
          </a:xfrm>
          <a:prstGeom prst="rect">
            <a:avLst/>
          </a:prstGeom>
          <a:noFill/>
          <a:ln/>
        </p:spPr>
        <p:txBody>
          <a:bodyPr wrap="square" lIns="0" tIns="0" rIns="0" bIns="0" rtlCol="0" anchor="ctr"/>
          <a:lstStyle/>
          <a:p>
            <a:pPr indent="0" marL="0">
              <a:buNone/>
            </a:pPr>
            <a:r>
              <a:rPr lang="en-US" sz="4000" dirty="0">
                <a:solidFill>
                  <a:schemeClr val="accent5"/>
                </a:solidFill>
                <a:latin typeface="Cambria" pitchFamily="34" charset="0"/>
                <a:ea typeface="Cambria" pitchFamily="34" charset="-122"/>
                <a:cs typeface="Cambria" pitchFamily="34" charset="-120"/>
              </a:rPr>
              <a:t>Trackers watch products.</a:t>
            </a:r>
            <a:endParaRPr lang="en-US" sz="4000" dirty="0"/>
          </a:p>
        </p:txBody>
      </p:sp>
      <p:sp>
        <p:nvSpPr>
          <p:cNvPr id="3" name="Closing line 2"/>
          <p:cNvSpPr txBox="1"/>
          <p:nvPr/>
        </p:nvSpPr>
        <p:spPr>
          <a:xfrm>
            <a:off x="640080" y="2194560"/>
            <a:ext cx="7863840"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DealScout watches your need.</a:t>
            </a:r>
            <a:endParaRPr lang="en-US" sz="4000" dirty="0"/>
          </a:p>
        </p:txBody>
      </p:sp>
      <p:sp>
        <p:nvSpPr>
          <p:cNvPr id="4" name="Closing body"/>
          <p:cNvSpPr txBox="1"/>
          <p:nvPr/>
        </p:nvSpPr>
        <p:spPr>
          <a:xfrm>
            <a:off x="640080" y="3291840"/>
            <a:ext cx="7315200" cy="457200"/>
          </a:xfrm>
          <a:prstGeom prst="rect">
            <a:avLst/>
          </a:prstGeom>
          <a:noFill/>
          <a:ln/>
        </p:spPr>
        <p:txBody>
          <a:bodyPr wrap="square" lIns="0" tIns="0" rIns="0" bIns="0" rtlCol="0" anchor="ctr"/>
          <a:lstStyle/>
          <a:p>
            <a:pPr indent="0" marL="0">
              <a:buNone/>
            </a:pPr>
            <a:r>
              <a:rPr lang="en-US" sz="1600" dirty="0">
                <a:solidFill>
                  <a:schemeClr val="bg2"/>
                </a:solidFill>
              </a:rPr>
              <a:t>Find the options you didn't know existed. Know whether the deal is real.</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DealScout">
  <a:themeElements>
    <a:clrScheme name="DealScout">
      <a:dk1>
        <a:srgbClr val="14201C"/>
      </a:dk1>
      <a:lt1>
        <a:srgbClr val="FFFFFF"/>
      </a:lt1>
      <a:dk2>
        <a:srgbClr val="2E3B35"/>
      </a:dk2>
      <a:lt2>
        <a:srgbClr val="EAF3EE"/>
      </a:lt2>
      <a:accent1>
        <a:srgbClr val="0F7B4F"/>
      </a:accent1>
      <a:accent2>
        <a:srgbClr val="C47F00"/>
      </a:accent2>
      <a:accent3>
        <a:srgbClr val="B3261E"/>
      </a:accent3>
      <a:accent4>
        <a:srgbClr val="5B6760"/>
      </a:accent4>
      <a:accent5>
        <a:srgbClr val="7FC4A2"/>
      </a:accent5>
      <a:accent6>
        <a:srgbClr val="F6C453"/>
      </a:accent6>
      <a:hlink>
        <a:srgbClr val="0F7B4F"/>
      </a:hlink>
      <a:folHlink>
        <a:srgbClr val="5B6760"/>
      </a:folHlink>
    </a:clrScheme>
    <a:fontScheme name="DealScou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DealScout</dc:title>
  <dc:subject>PptxGenJS Presentation</dc:subject>
  <dc:creator>PptxGenJS</dc:creator>
  <cp:lastModifiedBy>PptxGenJS</cp:lastModifiedBy>
  <cp:revision>1</cp:revision>
  <dcterms:created xsi:type="dcterms:W3CDTF">2026-10-13T10:01:44Z</dcterms:created>
  <dcterms:modified xsi:type="dcterms:W3CDTF">2026-10-13T10:01:44Z</dcterms:modified>
</cp:coreProperties>
</file>